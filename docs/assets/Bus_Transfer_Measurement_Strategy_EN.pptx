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tests whether frequent bus transfer locations lack convenient public toilet access. The data source and event fields are awaiting confirmation. Observed activity will come from passenger transfer records or passenger journeys from which transfers can be identified. Vehicle arrivals or service frequency alone do not identify passenger transfers. The study is event based rather than a simulated population model. Transfer events are not observations of toilet use. No empirical findings are claimed in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domains are transfer activity and toilet accessibility. Capacity pressure and resident/tourist population scenarios are removed from the primary framework. The fan is categorical. Event weighting measures the distribution of accessibility over observed transfers rather than estimating toilet demand.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of a transfer must follow the source data. Transfers explicitly labeled in records differ from transfers inferred from linked passenger journeys. Report observation dates, data coverage and quality flags. Avoid double counting one transfer and use consistent denominators across days. Hotspot thresholds and aggregation intervals belong in methods. Retain all eligible event locations for overall coverage, then report frequent locations as a focal subset. No illustrative event counts are shown.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schematic. It does not depict measured transfer locations. The origin is a physical stop or alighting position rather than an interchange centroid. The destination is the usable entrance of a toilet. Opening and temporary closure records must correspond to the observation period. Shortest walking time, thresholds and impedance functions remain to be specified in methods. https://doi.org/10.1177/2399808319847204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Additional walking is the difference between the feasible route through a toilet and the direct route between alighting and boarding stops. This metric requires linked stop pairs. It does not establish whether a person has enough time to use the toilet and catch a bus. Service time and the onward departure would be required for that question. This is a conditional extension rather than a claim that paired locations are already available.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event weighted coverage from all valid events for an overall baseline and separately for the high frequency subset. If repeated events belong to the same passenger they remain distinct events, not unique people. Normalize for observation duration and account for missing data across days. Time series describe transfer activity and access, not toilet use. Demographic equity is outside scope without relevant attributes.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measures improvement rather than specifying an optimization algorithm. Candidate locations and implementation constraints belong in the methods and proposed data sections. Use fixed observed event weights to compare coverage changes without claiming induced transfer behavior. Transfer volume does not represent toilet demand or capacity requirements. https://doi.org/10.1038/s44284-024-00119-4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43D"/>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CB6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B9D8D1"/>
                </a:solidFill>
                <a:latin typeface="Liberation Sans"/>
              </a:defRPr>
            </a:pPr>
            <a:r>
              <a:rPr>
                <a:ea typeface="Liberation Sans"/>
              </a:rPr>
              <a:t>MEASUREMENT STRATEGY</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FFFFFF"/>
                </a:solidFill>
                <a:latin typeface="Liberation Sans"/>
              </a:defRPr>
            </a:pPr>
            <a:r>
              <a:rPr>
                <a:ea typeface="Liberation Sans"/>
              </a:rPr>
              <a:t>Between Buses: A Toilet Within Reach?</a:t>
            </a:r>
          </a:p>
        </p:txBody>
      </p:sp>
      <p:cxnSp>
        <p:nvCxnSpPr>
          <p:cNvPr id="5" name="Connector 4"/>
          <p:cNvCxnSpPr/>
          <p:nvPr/>
        </p:nvCxnSpPr>
        <p:spPr>
          <a:xfrm>
            <a:off x="685800" y="7754112"/>
            <a:ext cx="13258800" cy="0"/>
          </a:xfrm>
          <a:prstGeom prst="line">
            <a:avLst/>
          </a:prstGeom>
          <a:ln w="12700">
            <a:solidFill>
              <a:srgbClr val="37515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AEC5C3"/>
                </a:solidFill>
                <a:latin typeface="Liberation Sans"/>
              </a:defRPr>
            </a:pPr>
            <a:r>
              <a:rPr>
                <a:ea typeface="Liberation Sans"/>
              </a:rPr>
              <a:t>HK PUBLIC TOILET RESEARCH  /  MEASUREMENT STRATEGY</a:t>
            </a:r>
          </a:p>
        </p:txBody>
      </p:sp>
      <p:sp>
        <p:nvSpPr>
          <p:cNvPr id="7" name="TextBox 6"/>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AEC5C3"/>
                </a:solidFill>
                <a:latin typeface="Liberation Sans"/>
              </a:defRPr>
            </a:pPr>
            <a:r>
              <a:rPr>
                <a:ea typeface="Liberation Sans"/>
              </a:rPr>
              <a:t>01 / 07</a:t>
            </a:r>
          </a:p>
        </p:txBody>
      </p:sp>
      <p:sp>
        <p:nvSpPr>
          <p:cNvPr id="8" name="TextBox 7"/>
          <p:cNvSpPr txBox="1"/>
          <p:nvPr/>
        </p:nvSpPr>
        <p:spPr>
          <a:xfrm>
            <a:off x="749808" y="1773936"/>
            <a:ext cx="12801600" cy="457200"/>
          </a:xfrm>
          <a:prstGeom prst="rect">
            <a:avLst/>
          </a:prstGeom>
          <a:noFill/>
        </p:spPr>
        <p:txBody>
          <a:bodyPr wrap="square" lIns="9144" rIns="9144" tIns="9144" bIns="9144">
            <a:spAutoFit/>
          </a:bodyPr>
          <a:lstStyle/>
          <a:p>
            <a:pPr>
              <a:lnSpc>
                <a:spcPct val="115000"/>
              </a:lnSpc>
              <a:spcAft>
                <a:spcPts val="700"/>
              </a:spcAft>
              <a:defRPr sz="2400" b="0">
                <a:solidFill>
                  <a:srgbClr val="C1D8D2"/>
                </a:solidFill>
                <a:latin typeface="Liberation Sans"/>
              </a:defRPr>
            </a:pPr>
            <a:r>
              <a:rPr>
                <a:ea typeface="Liberation Sans"/>
              </a:rPr>
              <a:t>Public toilet accessibility at frequent bus transfer locations in Hong Kong</a:t>
            </a:r>
          </a:p>
        </p:txBody>
      </p:sp>
      <p:sp>
        <p:nvSpPr>
          <p:cNvPr id="9" name="TextBox 8"/>
          <p:cNvSpPr txBox="1"/>
          <p:nvPr/>
        </p:nvSpPr>
        <p:spPr>
          <a:xfrm>
            <a:off x="749808" y="2834640"/>
            <a:ext cx="12664440" cy="1417320"/>
          </a:xfrm>
          <a:prstGeom prst="rect">
            <a:avLst/>
          </a:prstGeom>
          <a:noFill/>
        </p:spPr>
        <p:txBody>
          <a:bodyPr wrap="square" lIns="9144" rIns="9144" tIns="9144" bIns="9144">
            <a:spAutoFit/>
          </a:bodyPr>
          <a:lstStyle/>
          <a:p>
            <a:pPr>
              <a:lnSpc>
                <a:spcPct val="115000"/>
              </a:lnSpc>
              <a:spcAft>
                <a:spcPts val="700"/>
              </a:spcAft>
              <a:defRPr sz="3100" b="1">
                <a:solidFill>
                  <a:srgbClr val="FFFFFF"/>
                </a:solidFill>
                <a:latin typeface="Liberation Sans"/>
              </a:defRPr>
            </a:pPr>
            <a:r>
              <a:rPr>
                <a:ea typeface="Liberation Sans"/>
              </a:rPr>
              <a:t>Where do frequent bus transfers coincide with poor toilet access?</a:t>
            </a:r>
          </a:p>
          <a:p>
            <a:pPr>
              <a:lnSpc>
                <a:spcPct val="115000"/>
              </a:lnSpc>
              <a:spcAft>
                <a:spcPts val="700"/>
              </a:spcAft>
              <a:defRPr sz="3100" b="1">
                <a:solidFill>
                  <a:srgbClr val="FFFFFF"/>
                </a:solidFill>
                <a:latin typeface="Liberation Sans"/>
              </a:defRPr>
            </a:pPr>
            <a:r>
              <a:rPr>
                <a:ea typeface="Liberation Sans"/>
              </a:rPr>
              <a:t>How does this relationship change throughout the day?</a:t>
            </a:r>
          </a:p>
        </p:txBody>
      </p:sp>
      <p:cxnSp>
        <p:nvCxnSpPr>
          <p:cNvPr id="10" name="Connector 9"/>
          <p:cNvCxnSpPr/>
          <p:nvPr/>
        </p:nvCxnSpPr>
        <p:spPr>
          <a:xfrm>
            <a:off x="777240" y="4663440"/>
            <a:ext cx="13048488" cy="0"/>
          </a:xfrm>
          <a:prstGeom prst="line">
            <a:avLst/>
          </a:prstGeom>
          <a:ln w="12700">
            <a:solidFill>
              <a:srgbClr val="37515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95528" y="5010912"/>
            <a:ext cx="3017520" cy="457200"/>
          </a:xfrm>
          <a:prstGeom prst="rect">
            <a:avLst/>
          </a:prstGeom>
          <a:noFill/>
        </p:spPr>
        <p:txBody>
          <a:bodyPr wrap="square" lIns="9144" rIns="9144" tIns="9144" bIns="9144">
            <a:spAutoFit/>
          </a:bodyPr>
          <a:lstStyle/>
          <a:p>
            <a:pPr>
              <a:lnSpc>
                <a:spcPct val="115000"/>
              </a:lnSpc>
              <a:spcAft>
                <a:spcPts val="700"/>
              </a:spcAft>
              <a:defRPr sz="2000" b="1">
                <a:solidFill>
                  <a:srgbClr val="B9D8D1"/>
                </a:solidFill>
                <a:latin typeface="Liberation Sans"/>
              </a:defRPr>
            </a:pPr>
            <a:r>
              <a:rPr>
                <a:ea typeface="Liberation Sans"/>
              </a:rPr>
              <a:t>Unit of observation</a:t>
            </a:r>
          </a:p>
        </p:txBody>
      </p:sp>
      <p:sp>
        <p:nvSpPr>
          <p:cNvPr id="12" name="TextBox 11"/>
          <p:cNvSpPr txBox="1"/>
          <p:nvPr/>
        </p:nvSpPr>
        <p:spPr>
          <a:xfrm>
            <a:off x="4114800" y="4992624"/>
            <a:ext cx="9509760" cy="786384"/>
          </a:xfrm>
          <a:prstGeom prst="rect">
            <a:avLst/>
          </a:prstGeom>
          <a:noFill/>
        </p:spPr>
        <p:txBody>
          <a:bodyPr wrap="square" lIns="9144" rIns="9144" tIns="9144" bIns="9144">
            <a:spAutoFit/>
          </a:bodyPr>
          <a:lstStyle/>
          <a:p>
            <a:pPr>
              <a:lnSpc>
                <a:spcPct val="115000"/>
              </a:lnSpc>
              <a:spcAft>
                <a:spcPts val="700"/>
              </a:spcAft>
              <a:defRPr sz="2300" b="0">
                <a:solidFill>
                  <a:srgbClr val="FFFFFF"/>
                </a:solidFill>
                <a:latin typeface="Liberation Sans"/>
              </a:defRPr>
            </a:pPr>
            <a:r>
              <a:rPr>
                <a:ea typeface="Liberation Sans"/>
              </a:rPr>
              <a:t>A passenger transfer event linked to a location and time.</a:t>
            </a:r>
          </a:p>
          <a:p>
            <a:pPr>
              <a:lnSpc>
                <a:spcPct val="115000"/>
              </a:lnSpc>
              <a:spcAft>
                <a:spcPts val="700"/>
              </a:spcAft>
              <a:defRPr sz="2300" b="0">
                <a:solidFill>
                  <a:srgbClr val="FFFFFF"/>
                </a:solidFill>
                <a:latin typeface="Liberation Sans"/>
              </a:defRPr>
            </a:pPr>
            <a:r>
              <a:rPr>
                <a:ea typeface="Liberation Sans"/>
              </a:rPr>
              <a:t>Events are aggregated into consistent observation intervals.</a:t>
            </a:r>
          </a:p>
        </p:txBody>
      </p:sp>
      <p:sp>
        <p:nvSpPr>
          <p:cNvPr id="13" name="TextBox 12"/>
          <p:cNvSpPr txBox="1"/>
          <p:nvPr/>
        </p:nvSpPr>
        <p:spPr>
          <a:xfrm>
            <a:off x="795528" y="6281928"/>
            <a:ext cx="3017520" cy="457200"/>
          </a:xfrm>
          <a:prstGeom prst="rect">
            <a:avLst/>
          </a:prstGeom>
          <a:noFill/>
        </p:spPr>
        <p:txBody>
          <a:bodyPr wrap="square" lIns="9144" rIns="9144" tIns="9144" bIns="9144">
            <a:spAutoFit/>
          </a:bodyPr>
          <a:lstStyle/>
          <a:p>
            <a:pPr>
              <a:lnSpc>
                <a:spcPct val="115000"/>
              </a:lnSpc>
              <a:spcAft>
                <a:spcPts val="700"/>
              </a:spcAft>
              <a:defRPr sz="2000" b="1">
                <a:solidFill>
                  <a:srgbClr val="B9D8D1"/>
                </a:solidFill>
                <a:latin typeface="Liberation Sans"/>
              </a:defRPr>
            </a:pPr>
            <a:r>
              <a:rPr>
                <a:ea typeface="Liberation Sans"/>
              </a:rPr>
              <a:t>Measurement focus</a:t>
            </a:r>
          </a:p>
        </p:txBody>
      </p:sp>
      <p:sp>
        <p:nvSpPr>
          <p:cNvPr id="14" name="TextBox 13"/>
          <p:cNvSpPr txBox="1"/>
          <p:nvPr/>
        </p:nvSpPr>
        <p:spPr>
          <a:xfrm>
            <a:off x="4114800" y="6263640"/>
            <a:ext cx="9509760" cy="822960"/>
          </a:xfrm>
          <a:prstGeom prst="rect">
            <a:avLst/>
          </a:prstGeom>
          <a:noFill/>
        </p:spPr>
        <p:txBody>
          <a:bodyPr wrap="square" lIns="9144" rIns="9144" tIns="9144" bIns="9144">
            <a:spAutoFit/>
          </a:bodyPr>
          <a:lstStyle/>
          <a:p>
            <a:pPr>
              <a:lnSpc>
                <a:spcPct val="115000"/>
              </a:lnSpc>
              <a:spcAft>
                <a:spcPts val="700"/>
              </a:spcAft>
              <a:defRPr sz="2300" b="0">
                <a:solidFill>
                  <a:srgbClr val="FFFFFF"/>
                </a:solidFill>
                <a:latin typeface="Liberation Sans"/>
              </a:defRPr>
            </a:pPr>
            <a:r>
              <a:rPr>
                <a:ea typeface="Liberation Sans"/>
              </a:rPr>
              <a:t>Transfer frequency and access to open public toilets</a:t>
            </a:r>
          </a:p>
          <a:p>
            <a:pPr>
              <a:lnSpc>
                <a:spcPct val="115000"/>
              </a:lnSpc>
              <a:spcAft>
                <a:spcPts val="700"/>
              </a:spcAft>
              <a:defRPr sz="2300" b="0">
                <a:solidFill>
                  <a:srgbClr val="FFFFFF"/>
                </a:solidFill>
                <a:latin typeface="Liberation Sans"/>
              </a:defRPr>
            </a:pPr>
            <a:r>
              <a:rPr>
                <a:ea typeface="Liberation Sans"/>
              </a:rPr>
              <a:t>within the pedestrian network.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MEASUREMENT FRAMEWORK</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Activity meets accessibility</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Transfer events describe where and when passengers change services. Accessibility describes the available toilet service.</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02 / 07</a:t>
            </a:r>
          </a:p>
        </p:txBody>
      </p:sp>
      <p:sp>
        <p:nvSpPr>
          <p:cNvPr id="9" name="Freeform 8"/>
          <p:cNvSpPr/>
          <p:nvPr/>
        </p:nvSpPr>
        <p:spPr>
          <a:xfrm>
            <a:off x="3365906" y="3684118"/>
            <a:ext cx="2534717" cy="2709367"/>
          </a:xfrm>
          <a:custGeom>
            <a:avLst/>
            <a:gdLst/>
            <a:ahLst/>
            <a:cxnLst/>
            <a:rect l="l" t="t" r="r" b="b"/>
            <a:pathLst>
              <a:path w="2772" h="2963">
                <a:moveTo>
                  <a:pt x="0" y="2926"/>
                </a:moveTo>
                <a:lnTo>
                  <a:pt x="1" y="2858"/>
                </a:lnTo>
                <a:lnTo>
                  <a:pt x="4" y="2791"/>
                </a:lnTo>
                <a:lnTo>
                  <a:pt x="8" y="2723"/>
                </a:lnTo>
                <a:lnTo>
                  <a:pt x="13" y="2656"/>
                </a:lnTo>
                <a:lnTo>
                  <a:pt x="19" y="2589"/>
                </a:lnTo>
                <a:lnTo>
                  <a:pt x="26" y="2521"/>
                </a:lnTo>
                <a:lnTo>
                  <a:pt x="34" y="2454"/>
                </a:lnTo>
                <a:lnTo>
                  <a:pt x="43" y="2387"/>
                </a:lnTo>
                <a:lnTo>
                  <a:pt x="53" y="2321"/>
                </a:lnTo>
                <a:lnTo>
                  <a:pt x="64" y="2254"/>
                </a:lnTo>
                <a:lnTo>
                  <a:pt x="76" y="2188"/>
                </a:lnTo>
                <a:lnTo>
                  <a:pt x="90" y="2121"/>
                </a:lnTo>
                <a:lnTo>
                  <a:pt x="104" y="2055"/>
                </a:lnTo>
                <a:lnTo>
                  <a:pt x="119" y="1989"/>
                </a:lnTo>
                <a:lnTo>
                  <a:pt x="135" y="1924"/>
                </a:lnTo>
                <a:lnTo>
                  <a:pt x="153" y="1859"/>
                </a:lnTo>
                <a:lnTo>
                  <a:pt x="171" y="1794"/>
                </a:lnTo>
                <a:lnTo>
                  <a:pt x="191" y="1729"/>
                </a:lnTo>
                <a:lnTo>
                  <a:pt x="211" y="1665"/>
                </a:lnTo>
                <a:lnTo>
                  <a:pt x="232" y="1600"/>
                </a:lnTo>
                <a:lnTo>
                  <a:pt x="255" y="1537"/>
                </a:lnTo>
                <a:lnTo>
                  <a:pt x="278" y="1473"/>
                </a:lnTo>
                <a:lnTo>
                  <a:pt x="302" y="1410"/>
                </a:lnTo>
                <a:lnTo>
                  <a:pt x="328" y="1348"/>
                </a:lnTo>
                <a:lnTo>
                  <a:pt x="354" y="1286"/>
                </a:lnTo>
                <a:lnTo>
                  <a:pt x="381" y="1224"/>
                </a:lnTo>
                <a:lnTo>
                  <a:pt x="410" y="1162"/>
                </a:lnTo>
                <a:lnTo>
                  <a:pt x="439" y="1102"/>
                </a:lnTo>
                <a:lnTo>
                  <a:pt x="469" y="1041"/>
                </a:lnTo>
                <a:lnTo>
                  <a:pt x="500" y="981"/>
                </a:lnTo>
                <a:lnTo>
                  <a:pt x="532" y="922"/>
                </a:lnTo>
                <a:lnTo>
                  <a:pt x="565" y="863"/>
                </a:lnTo>
                <a:lnTo>
                  <a:pt x="599" y="804"/>
                </a:lnTo>
                <a:lnTo>
                  <a:pt x="634" y="746"/>
                </a:lnTo>
                <a:lnTo>
                  <a:pt x="670" y="689"/>
                </a:lnTo>
                <a:lnTo>
                  <a:pt x="706" y="632"/>
                </a:lnTo>
                <a:lnTo>
                  <a:pt x="744" y="576"/>
                </a:lnTo>
                <a:lnTo>
                  <a:pt x="782" y="521"/>
                </a:lnTo>
                <a:lnTo>
                  <a:pt x="821" y="466"/>
                </a:lnTo>
                <a:lnTo>
                  <a:pt x="861" y="411"/>
                </a:lnTo>
                <a:lnTo>
                  <a:pt x="902" y="357"/>
                </a:lnTo>
                <a:lnTo>
                  <a:pt x="944" y="304"/>
                </a:lnTo>
                <a:lnTo>
                  <a:pt x="987" y="252"/>
                </a:lnTo>
                <a:lnTo>
                  <a:pt x="1030" y="200"/>
                </a:lnTo>
                <a:lnTo>
                  <a:pt x="1074" y="149"/>
                </a:lnTo>
                <a:lnTo>
                  <a:pt x="1119" y="99"/>
                </a:lnTo>
                <a:lnTo>
                  <a:pt x="1165" y="49"/>
                </a:lnTo>
                <a:lnTo>
                  <a:pt x="1211" y="0"/>
                </a:lnTo>
                <a:lnTo>
                  <a:pt x="2772" y="1507"/>
                </a:lnTo>
                <a:lnTo>
                  <a:pt x="2749" y="1532"/>
                </a:lnTo>
                <a:lnTo>
                  <a:pt x="2726" y="1557"/>
                </a:lnTo>
                <a:lnTo>
                  <a:pt x="2704" y="1582"/>
                </a:lnTo>
                <a:lnTo>
                  <a:pt x="2682" y="1607"/>
                </a:lnTo>
                <a:lnTo>
                  <a:pt x="2661" y="1633"/>
                </a:lnTo>
                <a:lnTo>
                  <a:pt x="2639" y="1659"/>
                </a:lnTo>
                <a:lnTo>
                  <a:pt x="2619" y="1685"/>
                </a:lnTo>
                <a:lnTo>
                  <a:pt x="2598" y="1712"/>
                </a:lnTo>
                <a:lnTo>
                  <a:pt x="2578" y="1739"/>
                </a:lnTo>
                <a:lnTo>
                  <a:pt x="2559" y="1767"/>
                </a:lnTo>
                <a:lnTo>
                  <a:pt x="2540" y="1794"/>
                </a:lnTo>
                <a:lnTo>
                  <a:pt x="2521" y="1822"/>
                </a:lnTo>
                <a:lnTo>
                  <a:pt x="2503" y="1850"/>
                </a:lnTo>
                <a:lnTo>
                  <a:pt x="2485" y="1879"/>
                </a:lnTo>
                <a:lnTo>
                  <a:pt x="2468" y="1908"/>
                </a:lnTo>
                <a:lnTo>
                  <a:pt x="2451" y="1937"/>
                </a:lnTo>
                <a:lnTo>
                  <a:pt x="2434" y="1966"/>
                </a:lnTo>
                <a:lnTo>
                  <a:pt x="2418" y="1996"/>
                </a:lnTo>
                <a:lnTo>
                  <a:pt x="2403" y="2026"/>
                </a:lnTo>
                <a:lnTo>
                  <a:pt x="2388" y="2056"/>
                </a:lnTo>
                <a:lnTo>
                  <a:pt x="2373" y="2086"/>
                </a:lnTo>
                <a:lnTo>
                  <a:pt x="2359" y="2117"/>
                </a:lnTo>
                <a:lnTo>
                  <a:pt x="2346" y="2147"/>
                </a:lnTo>
                <a:lnTo>
                  <a:pt x="2333" y="2178"/>
                </a:lnTo>
                <a:lnTo>
                  <a:pt x="2320" y="2209"/>
                </a:lnTo>
                <a:lnTo>
                  <a:pt x="2308" y="2241"/>
                </a:lnTo>
                <a:lnTo>
                  <a:pt x="2296" y="2272"/>
                </a:lnTo>
                <a:lnTo>
                  <a:pt x="2285" y="2304"/>
                </a:lnTo>
                <a:lnTo>
                  <a:pt x="2274" y="2336"/>
                </a:lnTo>
                <a:lnTo>
                  <a:pt x="2264" y="2368"/>
                </a:lnTo>
                <a:lnTo>
                  <a:pt x="2255" y="2400"/>
                </a:lnTo>
                <a:lnTo>
                  <a:pt x="2246" y="2432"/>
                </a:lnTo>
                <a:lnTo>
                  <a:pt x="2237" y="2465"/>
                </a:lnTo>
                <a:lnTo>
                  <a:pt x="2229" y="2498"/>
                </a:lnTo>
                <a:lnTo>
                  <a:pt x="2221" y="2530"/>
                </a:lnTo>
                <a:lnTo>
                  <a:pt x="2214" y="2563"/>
                </a:lnTo>
                <a:lnTo>
                  <a:pt x="2207" y="2596"/>
                </a:lnTo>
                <a:lnTo>
                  <a:pt x="2201" y="2629"/>
                </a:lnTo>
                <a:lnTo>
                  <a:pt x="2196" y="2662"/>
                </a:lnTo>
                <a:lnTo>
                  <a:pt x="2191" y="2696"/>
                </a:lnTo>
                <a:lnTo>
                  <a:pt x="2186" y="2729"/>
                </a:lnTo>
                <a:lnTo>
                  <a:pt x="2182" y="2762"/>
                </a:lnTo>
                <a:lnTo>
                  <a:pt x="2179" y="2796"/>
                </a:lnTo>
                <a:lnTo>
                  <a:pt x="2176" y="2829"/>
                </a:lnTo>
                <a:lnTo>
                  <a:pt x="2173" y="2863"/>
                </a:lnTo>
                <a:lnTo>
                  <a:pt x="2172" y="2896"/>
                </a:lnTo>
                <a:lnTo>
                  <a:pt x="2170" y="2930"/>
                </a:lnTo>
                <a:lnTo>
                  <a:pt x="2169" y="2963"/>
                </a:lnTo>
                <a:close/>
              </a:path>
            </a:pathLst>
          </a:custGeom>
          <a:solidFill>
            <a:srgbClr val="E1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571086" y="2478938"/>
            <a:ext cx="2709367" cy="2534717"/>
          </a:xfrm>
          <a:custGeom>
            <a:avLst/>
            <a:gdLst/>
            <a:ahLst/>
            <a:cxnLst/>
            <a:rect l="l" t="t" r="r" b="b"/>
            <a:pathLst>
              <a:path w="2963" h="2772">
                <a:moveTo>
                  <a:pt x="0" y="1211"/>
                </a:moveTo>
                <a:lnTo>
                  <a:pt x="49" y="1165"/>
                </a:lnTo>
                <a:lnTo>
                  <a:pt x="99" y="1119"/>
                </a:lnTo>
                <a:lnTo>
                  <a:pt x="149" y="1074"/>
                </a:lnTo>
                <a:lnTo>
                  <a:pt x="200" y="1030"/>
                </a:lnTo>
                <a:lnTo>
                  <a:pt x="252" y="987"/>
                </a:lnTo>
                <a:lnTo>
                  <a:pt x="304" y="944"/>
                </a:lnTo>
                <a:lnTo>
                  <a:pt x="357" y="902"/>
                </a:lnTo>
                <a:lnTo>
                  <a:pt x="411" y="861"/>
                </a:lnTo>
                <a:lnTo>
                  <a:pt x="466" y="821"/>
                </a:lnTo>
                <a:lnTo>
                  <a:pt x="521" y="782"/>
                </a:lnTo>
                <a:lnTo>
                  <a:pt x="576" y="744"/>
                </a:lnTo>
                <a:lnTo>
                  <a:pt x="632" y="706"/>
                </a:lnTo>
                <a:lnTo>
                  <a:pt x="689" y="670"/>
                </a:lnTo>
                <a:lnTo>
                  <a:pt x="746" y="634"/>
                </a:lnTo>
                <a:lnTo>
                  <a:pt x="804" y="599"/>
                </a:lnTo>
                <a:lnTo>
                  <a:pt x="863" y="565"/>
                </a:lnTo>
                <a:lnTo>
                  <a:pt x="922" y="532"/>
                </a:lnTo>
                <a:lnTo>
                  <a:pt x="981" y="500"/>
                </a:lnTo>
                <a:lnTo>
                  <a:pt x="1041" y="469"/>
                </a:lnTo>
                <a:lnTo>
                  <a:pt x="1102" y="439"/>
                </a:lnTo>
                <a:lnTo>
                  <a:pt x="1162" y="410"/>
                </a:lnTo>
                <a:lnTo>
                  <a:pt x="1224" y="381"/>
                </a:lnTo>
                <a:lnTo>
                  <a:pt x="1286" y="354"/>
                </a:lnTo>
                <a:lnTo>
                  <a:pt x="1348" y="328"/>
                </a:lnTo>
                <a:lnTo>
                  <a:pt x="1410" y="302"/>
                </a:lnTo>
                <a:lnTo>
                  <a:pt x="1473" y="278"/>
                </a:lnTo>
                <a:lnTo>
                  <a:pt x="1537" y="255"/>
                </a:lnTo>
                <a:lnTo>
                  <a:pt x="1600" y="232"/>
                </a:lnTo>
                <a:lnTo>
                  <a:pt x="1665" y="211"/>
                </a:lnTo>
                <a:lnTo>
                  <a:pt x="1729" y="191"/>
                </a:lnTo>
                <a:lnTo>
                  <a:pt x="1794" y="171"/>
                </a:lnTo>
                <a:lnTo>
                  <a:pt x="1859" y="153"/>
                </a:lnTo>
                <a:lnTo>
                  <a:pt x="1924" y="135"/>
                </a:lnTo>
                <a:lnTo>
                  <a:pt x="1989" y="119"/>
                </a:lnTo>
                <a:lnTo>
                  <a:pt x="2055" y="104"/>
                </a:lnTo>
                <a:lnTo>
                  <a:pt x="2121" y="90"/>
                </a:lnTo>
                <a:lnTo>
                  <a:pt x="2188" y="76"/>
                </a:lnTo>
                <a:lnTo>
                  <a:pt x="2254" y="64"/>
                </a:lnTo>
                <a:lnTo>
                  <a:pt x="2321" y="53"/>
                </a:lnTo>
                <a:lnTo>
                  <a:pt x="2387" y="43"/>
                </a:lnTo>
                <a:lnTo>
                  <a:pt x="2454" y="34"/>
                </a:lnTo>
                <a:lnTo>
                  <a:pt x="2521" y="26"/>
                </a:lnTo>
                <a:lnTo>
                  <a:pt x="2589" y="19"/>
                </a:lnTo>
                <a:lnTo>
                  <a:pt x="2656" y="13"/>
                </a:lnTo>
                <a:lnTo>
                  <a:pt x="2723" y="8"/>
                </a:lnTo>
                <a:lnTo>
                  <a:pt x="2791" y="4"/>
                </a:lnTo>
                <a:lnTo>
                  <a:pt x="2858" y="1"/>
                </a:lnTo>
                <a:lnTo>
                  <a:pt x="2926" y="0"/>
                </a:lnTo>
                <a:lnTo>
                  <a:pt x="2963" y="2169"/>
                </a:lnTo>
                <a:lnTo>
                  <a:pt x="2930" y="2170"/>
                </a:lnTo>
                <a:lnTo>
                  <a:pt x="2896" y="2172"/>
                </a:lnTo>
                <a:lnTo>
                  <a:pt x="2863" y="2173"/>
                </a:lnTo>
                <a:lnTo>
                  <a:pt x="2829" y="2176"/>
                </a:lnTo>
                <a:lnTo>
                  <a:pt x="2796" y="2179"/>
                </a:lnTo>
                <a:lnTo>
                  <a:pt x="2762" y="2182"/>
                </a:lnTo>
                <a:lnTo>
                  <a:pt x="2729" y="2186"/>
                </a:lnTo>
                <a:lnTo>
                  <a:pt x="2696" y="2191"/>
                </a:lnTo>
                <a:lnTo>
                  <a:pt x="2662" y="2196"/>
                </a:lnTo>
                <a:lnTo>
                  <a:pt x="2629" y="2201"/>
                </a:lnTo>
                <a:lnTo>
                  <a:pt x="2596" y="2207"/>
                </a:lnTo>
                <a:lnTo>
                  <a:pt x="2563" y="2214"/>
                </a:lnTo>
                <a:lnTo>
                  <a:pt x="2530" y="2221"/>
                </a:lnTo>
                <a:lnTo>
                  <a:pt x="2498" y="2229"/>
                </a:lnTo>
                <a:lnTo>
                  <a:pt x="2465" y="2237"/>
                </a:lnTo>
                <a:lnTo>
                  <a:pt x="2432" y="2246"/>
                </a:lnTo>
                <a:lnTo>
                  <a:pt x="2400" y="2255"/>
                </a:lnTo>
                <a:lnTo>
                  <a:pt x="2368" y="2264"/>
                </a:lnTo>
                <a:lnTo>
                  <a:pt x="2336" y="2274"/>
                </a:lnTo>
                <a:lnTo>
                  <a:pt x="2304" y="2285"/>
                </a:lnTo>
                <a:lnTo>
                  <a:pt x="2272" y="2296"/>
                </a:lnTo>
                <a:lnTo>
                  <a:pt x="2241" y="2308"/>
                </a:lnTo>
                <a:lnTo>
                  <a:pt x="2209" y="2320"/>
                </a:lnTo>
                <a:lnTo>
                  <a:pt x="2178" y="2333"/>
                </a:lnTo>
                <a:lnTo>
                  <a:pt x="2147" y="2346"/>
                </a:lnTo>
                <a:lnTo>
                  <a:pt x="2117" y="2359"/>
                </a:lnTo>
                <a:lnTo>
                  <a:pt x="2086" y="2373"/>
                </a:lnTo>
                <a:lnTo>
                  <a:pt x="2056" y="2388"/>
                </a:lnTo>
                <a:lnTo>
                  <a:pt x="2026" y="2403"/>
                </a:lnTo>
                <a:lnTo>
                  <a:pt x="1996" y="2418"/>
                </a:lnTo>
                <a:lnTo>
                  <a:pt x="1966" y="2434"/>
                </a:lnTo>
                <a:lnTo>
                  <a:pt x="1937" y="2451"/>
                </a:lnTo>
                <a:lnTo>
                  <a:pt x="1908" y="2468"/>
                </a:lnTo>
                <a:lnTo>
                  <a:pt x="1879" y="2485"/>
                </a:lnTo>
                <a:lnTo>
                  <a:pt x="1850" y="2503"/>
                </a:lnTo>
                <a:lnTo>
                  <a:pt x="1822" y="2521"/>
                </a:lnTo>
                <a:lnTo>
                  <a:pt x="1794" y="2540"/>
                </a:lnTo>
                <a:lnTo>
                  <a:pt x="1767" y="2559"/>
                </a:lnTo>
                <a:lnTo>
                  <a:pt x="1739" y="2578"/>
                </a:lnTo>
                <a:lnTo>
                  <a:pt x="1712" y="2598"/>
                </a:lnTo>
                <a:lnTo>
                  <a:pt x="1685" y="2619"/>
                </a:lnTo>
                <a:lnTo>
                  <a:pt x="1659" y="2639"/>
                </a:lnTo>
                <a:lnTo>
                  <a:pt x="1633" y="2661"/>
                </a:lnTo>
                <a:lnTo>
                  <a:pt x="1607" y="2682"/>
                </a:lnTo>
                <a:lnTo>
                  <a:pt x="1582" y="2704"/>
                </a:lnTo>
                <a:lnTo>
                  <a:pt x="1557" y="2726"/>
                </a:lnTo>
                <a:lnTo>
                  <a:pt x="1532" y="2749"/>
                </a:lnTo>
                <a:lnTo>
                  <a:pt x="1507" y="2772"/>
                </a:lnTo>
                <a:close/>
              </a:path>
            </a:pathLst>
          </a:custGeom>
          <a:solidFill>
            <a:srgbClr val="D0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7349947" y="2478938"/>
            <a:ext cx="2709367" cy="2534717"/>
          </a:xfrm>
          <a:custGeom>
            <a:avLst/>
            <a:gdLst/>
            <a:ahLst/>
            <a:cxnLst/>
            <a:rect l="l" t="t" r="r" b="b"/>
            <a:pathLst>
              <a:path w="2963" h="2772">
                <a:moveTo>
                  <a:pt x="37" y="0"/>
                </a:moveTo>
                <a:lnTo>
                  <a:pt x="105" y="1"/>
                </a:lnTo>
                <a:lnTo>
                  <a:pt x="172" y="4"/>
                </a:lnTo>
                <a:lnTo>
                  <a:pt x="240" y="8"/>
                </a:lnTo>
                <a:lnTo>
                  <a:pt x="307" y="13"/>
                </a:lnTo>
                <a:lnTo>
                  <a:pt x="374" y="19"/>
                </a:lnTo>
                <a:lnTo>
                  <a:pt x="442" y="26"/>
                </a:lnTo>
                <a:lnTo>
                  <a:pt x="509" y="34"/>
                </a:lnTo>
                <a:lnTo>
                  <a:pt x="576" y="43"/>
                </a:lnTo>
                <a:lnTo>
                  <a:pt x="642" y="53"/>
                </a:lnTo>
                <a:lnTo>
                  <a:pt x="709" y="64"/>
                </a:lnTo>
                <a:lnTo>
                  <a:pt x="775" y="76"/>
                </a:lnTo>
                <a:lnTo>
                  <a:pt x="842" y="90"/>
                </a:lnTo>
                <a:lnTo>
                  <a:pt x="908" y="104"/>
                </a:lnTo>
                <a:lnTo>
                  <a:pt x="974" y="119"/>
                </a:lnTo>
                <a:lnTo>
                  <a:pt x="1039" y="135"/>
                </a:lnTo>
                <a:lnTo>
                  <a:pt x="1104" y="153"/>
                </a:lnTo>
                <a:lnTo>
                  <a:pt x="1169" y="171"/>
                </a:lnTo>
                <a:lnTo>
                  <a:pt x="1234" y="191"/>
                </a:lnTo>
                <a:lnTo>
                  <a:pt x="1298" y="211"/>
                </a:lnTo>
                <a:lnTo>
                  <a:pt x="1363" y="232"/>
                </a:lnTo>
                <a:lnTo>
                  <a:pt x="1426" y="255"/>
                </a:lnTo>
                <a:lnTo>
                  <a:pt x="1490" y="278"/>
                </a:lnTo>
                <a:lnTo>
                  <a:pt x="1553" y="302"/>
                </a:lnTo>
                <a:lnTo>
                  <a:pt x="1615" y="328"/>
                </a:lnTo>
                <a:lnTo>
                  <a:pt x="1677" y="354"/>
                </a:lnTo>
                <a:lnTo>
                  <a:pt x="1739" y="381"/>
                </a:lnTo>
                <a:lnTo>
                  <a:pt x="1801" y="410"/>
                </a:lnTo>
                <a:lnTo>
                  <a:pt x="1861" y="439"/>
                </a:lnTo>
                <a:lnTo>
                  <a:pt x="1922" y="469"/>
                </a:lnTo>
                <a:lnTo>
                  <a:pt x="1982" y="500"/>
                </a:lnTo>
                <a:lnTo>
                  <a:pt x="2041" y="532"/>
                </a:lnTo>
                <a:lnTo>
                  <a:pt x="2100" y="565"/>
                </a:lnTo>
                <a:lnTo>
                  <a:pt x="2159" y="599"/>
                </a:lnTo>
                <a:lnTo>
                  <a:pt x="2217" y="634"/>
                </a:lnTo>
                <a:lnTo>
                  <a:pt x="2274" y="670"/>
                </a:lnTo>
                <a:lnTo>
                  <a:pt x="2331" y="706"/>
                </a:lnTo>
                <a:lnTo>
                  <a:pt x="2387" y="744"/>
                </a:lnTo>
                <a:lnTo>
                  <a:pt x="2442" y="782"/>
                </a:lnTo>
                <a:lnTo>
                  <a:pt x="2497" y="821"/>
                </a:lnTo>
                <a:lnTo>
                  <a:pt x="2552" y="861"/>
                </a:lnTo>
                <a:lnTo>
                  <a:pt x="2606" y="902"/>
                </a:lnTo>
                <a:lnTo>
                  <a:pt x="2659" y="944"/>
                </a:lnTo>
                <a:lnTo>
                  <a:pt x="2711" y="987"/>
                </a:lnTo>
                <a:lnTo>
                  <a:pt x="2763" y="1030"/>
                </a:lnTo>
                <a:lnTo>
                  <a:pt x="2814" y="1074"/>
                </a:lnTo>
                <a:lnTo>
                  <a:pt x="2864" y="1119"/>
                </a:lnTo>
                <a:lnTo>
                  <a:pt x="2914" y="1165"/>
                </a:lnTo>
                <a:lnTo>
                  <a:pt x="2963" y="1211"/>
                </a:lnTo>
                <a:lnTo>
                  <a:pt x="1456" y="2772"/>
                </a:lnTo>
                <a:lnTo>
                  <a:pt x="1431" y="2749"/>
                </a:lnTo>
                <a:lnTo>
                  <a:pt x="1406" y="2726"/>
                </a:lnTo>
                <a:lnTo>
                  <a:pt x="1381" y="2704"/>
                </a:lnTo>
                <a:lnTo>
                  <a:pt x="1356" y="2682"/>
                </a:lnTo>
                <a:lnTo>
                  <a:pt x="1330" y="2661"/>
                </a:lnTo>
                <a:lnTo>
                  <a:pt x="1304" y="2639"/>
                </a:lnTo>
                <a:lnTo>
                  <a:pt x="1278" y="2619"/>
                </a:lnTo>
                <a:lnTo>
                  <a:pt x="1251" y="2598"/>
                </a:lnTo>
                <a:lnTo>
                  <a:pt x="1224" y="2578"/>
                </a:lnTo>
                <a:lnTo>
                  <a:pt x="1196" y="2559"/>
                </a:lnTo>
                <a:lnTo>
                  <a:pt x="1169" y="2540"/>
                </a:lnTo>
                <a:lnTo>
                  <a:pt x="1141" y="2521"/>
                </a:lnTo>
                <a:lnTo>
                  <a:pt x="1113" y="2503"/>
                </a:lnTo>
                <a:lnTo>
                  <a:pt x="1084" y="2485"/>
                </a:lnTo>
                <a:lnTo>
                  <a:pt x="1055" y="2468"/>
                </a:lnTo>
                <a:lnTo>
                  <a:pt x="1026" y="2451"/>
                </a:lnTo>
                <a:lnTo>
                  <a:pt x="997" y="2434"/>
                </a:lnTo>
                <a:lnTo>
                  <a:pt x="967" y="2418"/>
                </a:lnTo>
                <a:lnTo>
                  <a:pt x="937" y="2403"/>
                </a:lnTo>
                <a:lnTo>
                  <a:pt x="907" y="2388"/>
                </a:lnTo>
                <a:lnTo>
                  <a:pt x="877" y="2373"/>
                </a:lnTo>
                <a:lnTo>
                  <a:pt x="846" y="2359"/>
                </a:lnTo>
                <a:lnTo>
                  <a:pt x="816" y="2346"/>
                </a:lnTo>
                <a:lnTo>
                  <a:pt x="785" y="2333"/>
                </a:lnTo>
                <a:lnTo>
                  <a:pt x="754" y="2320"/>
                </a:lnTo>
                <a:lnTo>
                  <a:pt x="722" y="2308"/>
                </a:lnTo>
                <a:lnTo>
                  <a:pt x="691" y="2296"/>
                </a:lnTo>
                <a:lnTo>
                  <a:pt x="659" y="2285"/>
                </a:lnTo>
                <a:lnTo>
                  <a:pt x="627" y="2274"/>
                </a:lnTo>
                <a:lnTo>
                  <a:pt x="595" y="2264"/>
                </a:lnTo>
                <a:lnTo>
                  <a:pt x="563" y="2255"/>
                </a:lnTo>
                <a:lnTo>
                  <a:pt x="531" y="2246"/>
                </a:lnTo>
                <a:lnTo>
                  <a:pt x="498" y="2237"/>
                </a:lnTo>
                <a:lnTo>
                  <a:pt x="465" y="2229"/>
                </a:lnTo>
                <a:lnTo>
                  <a:pt x="433" y="2221"/>
                </a:lnTo>
                <a:lnTo>
                  <a:pt x="400" y="2214"/>
                </a:lnTo>
                <a:lnTo>
                  <a:pt x="367" y="2207"/>
                </a:lnTo>
                <a:lnTo>
                  <a:pt x="334" y="2201"/>
                </a:lnTo>
                <a:lnTo>
                  <a:pt x="301" y="2196"/>
                </a:lnTo>
                <a:lnTo>
                  <a:pt x="267" y="2191"/>
                </a:lnTo>
                <a:lnTo>
                  <a:pt x="234" y="2186"/>
                </a:lnTo>
                <a:lnTo>
                  <a:pt x="201" y="2182"/>
                </a:lnTo>
                <a:lnTo>
                  <a:pt x="167" y="2179"/>
                </a:lnTo>
                <a:lnTo>
                  <a:pt x="134" y="2176"/>
                </a:lnTo>
                <a:lnTo>
                  <a:pt x="100" y="2173"/>
                </a:lnTo>
                <a:lnTo>
                  <a:pt x="67" y="2172"/>
                </a:lnTo>
                <a:lnTo>
                  <a:pt x="33" y="2170"/>
                </a:lnTo>
                <a:lnTo>
                  <a:pt x="0" y="2169"/>
                </a:lnTo>
                <a:close/>
              </a:path>
            </a:pathLst>
          </a:custGeom>
          <a:solidFill>
            <a:srgbClr val="F4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729777" y="3684118"/>
            <a:ext cx="2534717" cy="2709367"/>
          </a:xfrm>
          <a:custGeom>
            <a:avLst/>
            <a:gdLst/>
            <a:ahLst/>
            <a:cxnLst/>
            <a:rect l="l" t="t" r="r" b="b"/>
            <a:pathLst>
              <a:path w="2772" h="2963">
                <a:moveTo>
                  <a:pt x="1561" y="0"/>
                </a:moveTo>
                <a:lnTo>
                  <a:pt x="1607" y="49"/>
                </a:lnTo>
                <a:lnTo>
                  <a:pt x="1653" y="99"/>
                </a:lnTo>
                <a:lnTo>
                  <a:pt x="1698" y="149"/>
                </a:lnTo>
                <a:lnTo>
                  <a:pt x="1742" y="200"/>
                </a:lnTo>
                <a:lnTo>
                  <a:pt x="1785" y="252"/>
                </a:lnTo>
                <a:lnTo>
                  <a:pt x="1828" y="304"/>
                </a:lnTo>
                <a:lnTo>
                  <a:pt x="1870" y="357"/>
                </a:lnTo>
                <a:lnTo>
                  <a:pt x="1911" y="411"/>
                </a:lnTo>
                <a:lnTo>
                  <a:pt x="1951" y="466"/>
                </a:lnTo>
                <a:lnTo>
                  <a:pt x="1990" y="521"/>
                </a:lnTo>
                <a:lnTo>
                  <a:pt x="2028" y="576"/>
                </a:lnTo>
                <a:lnTo>
                  <a:pt x="2066" y="632"/>
                </a:lnTo>
                <a:lnTo>
                  <a:pt x="2102" y="689"/>
                </a:lnTo>
                <a:lnTo>
                  <a:pt x="2138" y="746"/>
                </a:lnTo>
                <a:lnTo>
                  <a:pt x="2173" y="804"/>
                </a:lnTo>
                <a:lnTo>
                  <a:pt x="2207" y="863"/>
                </a:lnTo>
                <a:lnTo>
                  <a:pt x="2240" y="922"/>
                </a:lnTo>
                <a:lnTo>
                  <a:pt x="2272" y="981"/>
                </a:lnTo>
                <a:lnTo>
                  <a:pt x="2303" y="1041"/>
                </a:lnTo>
                <a:lnTo>
                  <a:pt x="2333" y="1102"/>
                </a:lnTo>
                <a:lnTo>
                  <a:pt x="2362" y="1162"/>
                </a:lnTo>
                <a:lnTo>
                  <a:pt x="2391" y="1224"/>
                </a:lnTo>
                <a:lnTo>
                  <a:pt x="2418" y="1286"/>
                </a:lnTo>
                <a:lnTo>
                  <a:pt x="2444" y="1348"/>
                </a:lnTo>
                <a:lnTo>
                  <a:pt x="2470" y="1410"/>
                </a:lnTo>
                <a:lnTo>
                  <a:pt x="2494" y="1473"/>
                </a:lnTo>
                <a:lnTo>
                  <a:pt x="2517" y="1537"/>
                </a:lnTo>
                <a:lnTo>
                  <a:pt x="2540" y="1600"/>
                </a:lnTo>
                <a:lnTo>
                  <a:pt x="2561" y="1665"/>
                </a:lnTo>
                <a:lnTo>
                  <a:pt x="2581" y="1729"/>
                </a:lnTo>
                <a:lnTo>
                  <a:pt x="2601" y="1794"/>
                </a:lnTo>
                <a:lnTo>
                  <a:pt x="2619" y="1859"/>
                </a:lnTo>
                <a:lnTo>
                  <a:pt x="2637" y="1924"/>
                </a:lnTo>
                <a:lnTo>
                  <a:pt x="2653" y="1989"/>
                </a:lnTo>
                <a:lnTo>
                  <a:pt x="2668" y="2055"/>
                </a:lnTo>
                <a:lnTo>
                  <a:pt x="2682" y="2121"/>
                </a:lnTo>
                <a:lnTo>
                  <a:pt x="2696" y="2188"/>
                </a:lnTo>
                <a:lnTo>
                  <a:pt x="2708" y="2254"/>
                </a:lnTo>
                <a:lnTo>
                  <a:pt x="2719" y="2321"/>
                </a:lnTo>
                <a:lnTo>
                  <a:pt x="2729" y="2387"/>
                </a:lnTo>
                <a:lnTo>
                  <a:pt x="2738" y="2454"/>
                </a:lnTo>
                <a:lnTo>
                  <a:pt x="2746" y="2521"/>
                </a:lnTo>
                <a:lnTo>
                  <a:pt x="2753" y="2589"/>
                </a:lnTo>
                <a:lnTo>
                  <a:pt x="2759" y="2656"/>
                </a:lnTo>
                <a:lnTo>
                  <a:pt x="2764" y="2723"/>
                </a:lnTo>
                <a:lnTo>
                  <a:pt x="2768" y="2791"/>
                </a:lnTo>
                <a:lnTo>
                  <a:pt x="2771" y="2858"/>
                </a:lnTo>
                <a:lnTo>
                  <a:pt x="2772" y="2926"/>
                </a:lnTo>
                <a:lnTo>
                  <a:pt x="603" y="2963"/>
                </a:lnTo>
                <a:lnTo>
                  <a:pt x="602" y="2930"/>
                </a:lnTo>
                <a:lnTo>
                  <a:pt x="600" y="2896"/>
                </a:lnTo>
                <a:lnTo>
                  <a:pt x="599" y="2863"/>
                </a:lnTo>
                <a:lnTo>
                  <a:pt x="596" y="2829"/>
                </a:lnTo>
                <a:lnTo>
                  <a:pt x="593" y="2796"/>
                </a:lnTo>
                <a:lnTo>
                  <a:pt x="590" y="2762"/>
                </a:lnTo>
                <a:lnTo>
                  <a:pt x="586" y="2729"/>
                </a:lnTo>
                <a:lnTo>
                  <a:pt x="581" y="2696"/>
                </a:lnTo>
                <a:lnTo>
                  <a:pt x="576" y="2662"/>
                </a:lnTo>
                <a:lnTo>
                  <a:pt x="571" y="2629"/>
                </a:lnTo>
                <a:lnTo>
                  <a:pt x="565" y="2596"/>
                </a:lnTo>
                <a:lnTo>
                  <a:pt x="558" y="2563"/>
                </a:lnTo>
                <a:lnTo>
                  <a:pt x="551" y="2530"/>
                </a:lnTo>
                <a:lnTo>
                  <a:pt x="543" y="2498"/>
                </a:lnTo>
                <a:lnTo>
                  <a:pt x="535" y="2465"/>
                </a:lnTo>
                <a:lnTo>
                  <a:pt x="526" y="2432"/>
                </a:lnTo>
                <a:lnTo>
                  <a:pt x="517" y="2400"/>
                </a:lnTo>
                <a:lnTo>
                  <a:pt x="508" y="2368"/>
                </a:lnTo>
                <a:lnTo>
                  <a:pt x="498" y="2336"/>
                </a:lnTo>
                <a:lnTo>
                  <a:pt x="487" y="2304"/>
                </a:lnTo>
                <a:lnTo>
                  <a:pt x="476" y="2272"/>
                </a:lnTo>
                <a:lnTo>
                  <a:pt x="464" y="2241"/>
                </a:lnTo>
                <a:lnTo>
                  <a:pt x="452" y="2209"/>
                </a:lnTo>
                <a:lnTo>
                  <a:pt x="439" y="2178"/>
                </a:lnTo>
                <a:lnTo>
                  <a:pt x="426" y="2147"/>
                </a:lnTo>
                <a:lnTo>
                  <a:pt x="413" y="2117"/>
                </a:lnTo>
                <a:lnTo>
                  <a:pt x="399" y="2086"/>
                </a:lnTo>
                <a:lnTo>
                  <a:pt x="384" y="2056"/>
                </a:lnTo>
                <a:lnTo>
                  <a:pt x="369" y="2026"/>
                </a:lnTo>
                <a:lnTo>
                  <a:pt x="354" y="1996"/>
                </a:lnTo>
                <a:lnTo>
                  <a:pt x="338" y="1966"/>
                </a:lnTo>
                <a:lnTo>
                  <a:pt x="321" y="1937"/>
                </a:lnTo>
                <a:lnTo>
                  <a:pt x="304" y="1908"/>
                </a:lnTo>
                <a:lnTo>
                  <a:pt x="287" y="1879"/>
                </a:lnTo>
                <a:lnTo>
                  <a:pt x="269" y="1850"/>
                </a:lnTo>
                <a:lnTo>
                  <a:pt x="251" y="1822"/>
                </a:lnTo>
                <a:lnTo>
                  <a:pt x="232" y="1794"/>
                </a:lnTo>
                <a:lnTo>
                  <a:pt x="213" y="1767"/>
                </a:lnTo>
                <a:lnTo>
                  <a:pt x="194" y="1739"/>
                </a:lnTo>
                <a:lnTo>
                  <a:pt x="174" y="1712"/>
                </a:lnTo>
                <a:lnTo>
                  <a:pt x="153" y="1685"/>
                </a:lnTo>
                <a:lnTo>
                  <a:pt x="133" y="1659"/>
                </a:lnTo>
                <a:lnTo>
                  <a:pt x="111" y="1633"/>
                </a:lnTo>
                <a:lnTo>
                  <a:pt x="90" y="1607"/>
                </a:lnTo>
                <a:lnTo>
                  <a:pt x="68" y="1582"/>
                </a:lnTo>
                <a:lnTo>
                  <a:pt x="46" y="1557"/>
                </a:lnTo>
                <a:lnTo>
                  <a:pt x="23" y="1532"/>
                </a:lnTo>
                <a:lnTo>
                  <a:pt x="0" y="1507"/>
                </a:lnTo>
                <a:close/>
              </a:path>
            </a:pathLst>
          </a:custGeom>
          <a:solidFill>
            <a:srgbClr val="EED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5413248" y="4526280"/>
            <a:ext cx="1886407" cy="1886407"/>
          </a:xfrm>
          <a:custGeom>
            <a:avLst/>
            <a:gdLst/>
            <a:ahLst/>
            <a:cxnLst/>
            <a:rect l="l" t="t" r="r" b="b"/>
            <a:pathLst>
              <a:path w="2063" h="2063">
                <a:moveTo>
                  <a:pt x="0" y="2044"/>
                </a:moveTo>
                <a:lnTo>
                  <a:pt x="3" y="1977"/>
                </a:lnTo>
                <a:lnTo>
                  <a:pt x="7" y="1911"/>
                </a:lnTo>
                <a:lnTo>
                  <a:pt x="13" y="1845"/>
                </a:lnTo>
                <a:lnTo>
                  <a:pt x="22" y="1779"/>
                </a:lnTo>
                <a:lnTo>
                  <a:pt x="33" y="1713"/>
                </a:lnTo>
                <a:lnTo>
                  <a:pt x="45" y="1648"/>
                </a:lnTo>
                <a:lnTo>
                  <a:pt x="60" y="1583"/>
                </a:lnTo>
                <a:lnTo>
                  <a:pt x="77" y="1518"/>
                </a:lnTo>
                <a:lnTo>
                  <a:pt x="96" y="1455"/>
                </a:lnTo>
                <a:lnTo>
                  <a:pt x="117" y="1391"/>
                </a:lnTo>
                <a:lnTo>
                  <a:pt x="140" y="1329"/>
                </a:lnTo>
                <a:lnTo>
                  <a:pt x="165" y="1267"/>
                </a:lnTo>
                <a:lnTo>
                  <a:pt x="192" y="1206"/>
                </a:lnTo>
                <a:lnTo>
                  <a:pt x="221" y="1146"/>
                </a:lnTo>
                <a:lnTo>
                  <a:pt x="252" y="1088"/>
                </a:lnTo>
                <a:lnTo>
                  <a:pt x="285" y="1030"/>
                </a:lnTo>
                <a:lnTo>
                  <a:pt x="319" y="973"/>
                </a:lnTo>
                <a:lnTo>
                  <a:pt x="356" y="917"/>
                </a:lnTo>
                <a:lnTo>
                  <a:pt x="394" y="862"/>
                </a:lnTo>
                <a:lnTo>
                  <a:pt x="434" y="809"/>
                </a:lnTo>
                <a:lnTo>
                  <a:pt x="475" y="757"/>
                </a:lnTo>
                <a:lnTo>
                  <a:pt x="518" y="706"/>
                </a:lnTo>
                <a:lnTo>
                  <a:pt x="563" y="657"/>
                </a:lnTo>
                <a:lnTo>
                  <a:pt x="609" y="609"/>
                </a:lnTo>
                <a:lnTo>
                  <a:pt x="657" y="563"/>
                </a:lnTo>
                <a:lnTo>
                  <a:pt x="706" y="518"/>
                </a:lnTo>
                <a:lnTo>
                  <a:pt x="757" y="475"/>
                </a:lnTo>
                <a:lnTo>
                  <a:pt x="809" y="434"/>
                </a:lnTo>
                <a:lnTo>
                  <a:pt x="862" y="394"/>
                </a:lnTo>
                <a:lnTo>
                  <a:pt x="917" y="356"/>
                </a:lnTo>
                <a:lnTo>
                  <a:pt x="973" y="319"/>
                </a:lnTo>
                <a:lnTo>
                  <a:pt x="1030" y="285"/>
                </a:lnTo>
                <a:lnTo>
                  <a:pt x="1088" y="252"/>
                </a:lnTo>
                <a:lnTo>
                  <a:pt x="1146" y="221"/>
                </a:lnTo>
                <a:lnTo>
                  <a:pt x="1206" y="192"/>
                </a:lnTo>
                <a:lnTo>
                  <a:pt x="1267" y="165"/>
                </a:lnTo>
                <a:lnTo>
                  <a:pt x="1329" y="140"/>
                </a:lnTo>
                <a:lnTo>
                  <a:pt x="1391" y="117"/>
                </a:lnTo>
                <a:lnTo>
                  <a:pt x="1455" y="96"/>
                </a:lnTo>
                <a:lnTo>
                  <a:pt x="1518" y="77"/>
                </a:lnTo>
                <a:lnTo>
                  <a:pt x="1583" y="60"/>
                </a:lnTo>
                <a:lnTo>
                  <a:pt x="1648" y="45"/>
                </a:lnTo>
                <a:lnTo>
                  <a:pt x="1713" y="33"/>
                </a:lnTo>
                <a:lnTo>
                  <a:pt x="1779" y="22"/>
                </a:lnTo>
                <a:lnTo>
                  <a:pt x="1845" y="13"/>
                </a:lnTo>
                <a:lnTo>
                  <a:pt x="1911" y="7"/>
                </a:lnTo>
                <a:lnTo>
                  <a:pt x="1977" y="3"/>
                </a:lnTo>
                <a:lnTo>
                  <a:pt x="2044" y="0"/>
                </a:lnTo>
                <a:lnTo>
                  <a:pt x="2063" y="1090"/>
                </a:lnTo>
                <a:lnTo>
                  <a:pt x="2031" y="1091"/>
                </a:lnTo>
                <a:lnTo>
                  <a:pt x="1999" y="1093"/>
                </a:lnTo>
                <a:lnTo>
                  <a:pt x="1968" y="1096"/>
                </a:lnTo>
                <a:lnTo>
                  <a:pt x="1937" y="1100"/>
                </a:lnTo>
                <a:lnTo>
                  <a:pt x="1905" y="1106"/>
                </a:lnTo>
                <a:lnTo>
                  <a:pt x="1874" y="1112"/>
                </a:lnTo>
                <a:lnTo>
                  <a:pt x="1843" y="1119"/>
                </a:lnTo>
                <a:lnTo>
                  <a:pt x="1813" y="1127"/>
                </a:lnTo>
                <a:lnTo>
                  <a:pt x="1782" y="1136"/>
                </a:lnTo>
                <a:lnTo>
                  <a:pt x="1752" y="1146"/>
                </a:lnTo>
                <a:lnTo>
                  <a:pt x="1723" y="1157"/>
                </a:lnTo>
                <a:lnTo>
                  <a:pt x="1693" y="1169"/>
                </a:lnTo>
                <a:lnTo>
                  <a:pt x="1664" y="1182"/>
                </a:lnTo>
                <a:lnTo>
                  <a:pt x="1636" y="1195"/>
                </a:lnTo>
                <a:lnTo>
                  <a:pt x="1608" y="1210"/>
                </a:lnTo>
                <a:lnTo>
                  <a:pt x="1580" y="1226"/>
                </a:lnTo>
                <a:lnTo>
                  <a:pt x="1553" y="1242"/>
                </a:lnTo>
                <a:lnTo>
                  <a:pt x="1526" y="1259"/>
                </a:lnTo>
                <a:lnTo>
                  <a:pt x="1500" y="1277"/>
                </a:lnTo>
                <a:lnTo>
                  <a:pt x="1475" y="1296"/>
                </a:lnTo>
                <a:lnTo>
                  <a:pt x="1450" y="1316"/>
                </a:lnTo>
                <a:lnTo>
                  <a:pt x="1426" y="1337"/>
                </a:lnTo>
                <a:lnTo>
                  <a:pt x="1403" y="1358"/>
                </a:lnTo>
                <a:lnTo>
                  <a:pt x="1380" y="1380"/>
                </a:lnTo>
                <a:lnTo>
                  <a:pt x="1358" y="1403"/>
                </a:lnTo>
                <a:lnTo>
                  <a:pt x="1337" y="1426"/>
                </a:lnTo>
                <a:lnTo>
                  <a:pt x="1316" y="1450"/>
                </a:lnTo>
                <a:lnTo>
                  <a:pt x="1296" y="1475"/>
                </a:lnTo>
                <a:lnTo>
                  <a:pt x="1277" y="1500"/>
                </a:lnTo>
                <a:lnTo>
                  <a:pt x="1259" y="1526"/>
                </a:lnTo>
                <a:lnTo>
                  <a:pt x="1242" y="1553"/>
                </a:lnTo>
                <a:lnTo>
                  <a:pt x="1226" y="1580"/>
                </a:lnTo>
                <a:lnTo>
                  <a:pt x="1210" y="1608"/>
                </a:lnTo>
                <a:lnTo>
                  <a:pt x="1195" y="1636"/>
                </a:lnTo>
                <a:lnTo>
                  <a:pt x="1182" y="1664"/>
                </a:lnTo>
                <a:lnTo>
                  <a:pt x="1169" y="1693"/>
                </a:lnTo>
                <a:lnTo>
                  <a:pt x="1157" y="1723"/>
                </a:lnTo>
                <a:lnTo>
                  <a:pt x="1146" y="1752"/>
                </a:lnTo>
                <a:lnTo>
                  <a:pt x="1136" y="1782"/>
                </a:lnTo>
                <a:lnTo>
                  <a:pt x="1127" y="1813"/>
                </a:lnTo>
                <a:lnTo>
                  <a:pt x="1119" y="1843"/>
                </a:lnTo>
                <a:lnTo>
                  <a:pt x="1112" y="1874"/>
                </a:lnTo>
                <a:lnTo>
                  <a:pt x="1106" y="1905"/>
                </a:lnTo>
                <a:lnTo>
                  <a:pt x="1100" y="1937"/>
                </a:lnTo>
                <a:lnTo>
                  <a:pt x="1096" y="1968"/>
                </a:lnTo>
                <a:lnTo>
                  <a:pt x="1093" y="1999"/>
                </a:lnTo>
                <a:lnTo>
                  <a:pt x="1091" y="2031"/>
                </a:lnTo>
                <a:lnTo>
                  <a:pt x="1090" y="2063"/>
                </a:lnTo>
                <a:close/>
              </a:path>
            </a:pathLst>
          </a:cu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330745" y="4526280"/>
            <a:ext cx="1886407" cy="1886407"/>
          </a:xfrm>
          <a:custGeom>
            <a:avLst/>
            <a:gdLst/>
            <a:ahLst/>
            <a:cxnLst/>
            <a:rect l="l" t="t" r="r" b="b"/>
            <a:pathLst>
              <a:path w="2063" h="2063">
                <a:moveTo>
                  <a:pt x="19" y="0"/>
                </a:moveTo>
                <a:lnTo>
                  <a:pt x="86" y="3"/>
                </a:lnTo>
                <a:lnTo>
                  <a:pt x="152" y="7"/>
                </a:lnTo>
                <a:lnTo>
                  <a:pt x="218" y="13"/>
                </a:lnTo>
                <a:lnTo>
                  <a:pt x="284" y="22"/>
                </a:lnTo>
                <a:lnTo>
                  <a:pt x="350" y="33"/>
                </a:lnTo>
                <a:lnTo>
                  <a:pt x="415" y="45"/>
                </a:lnTo>
                <a:lnTo>
                  <a:pt x="480" y="60"/>
                </a:lnTo>
                <a:lnTo>
                  <a:pt x="545" y="77"/>
                </a:lnTo>
                <a:lnTo>
                  <a:pt x="608" y="96"/>
                </a:lnTo>
                <a:lnTo>
                  <a:pt x="672" y="117"/>
                </a:lnTo>
                <a:lnTo>
                  <a:pt x="734" y="140"/>
                </a:lnTo>
                <a:lnTo>
                  <a:pt x="796" y="165"/>
                </a:lnTo>
                <a:lnTo>
                  <a:pt x="857" y="192"/>
                </a:lnTo>
                <a:lnTo>
                  <a:pt x="917" y="221"/>
                </a:lnTo>
                <a:lnTo>
                  <a:pt x="975" y="252"/>
                </a:lnTo>
                <a:lnTo>
                  <a:pt x="1033" y="285"/>
                </a:lnTo>
                <a:lnTo>
                  <a:pt x="1090" y="319"/>
                </a:lnTo>
                <a:lnTo>
                  <a:pt x="1146" y="356"/>
                </a:lnTo>
                <a:lnTo>
                  <a:pt x="1201" y="394"/>
                </a:lnTo>
                <a:lnTo>
                  <a:pt x="1254" y="434"/>
                </a:lnTo>
                <a:lnTo>
                  <a:pt x="1306" y="475"/>
                </a:lnTo>
                <a:lnTo>
                  <a:pt x="1357" y="518"/>
                </a:lnTo>
                <a:lnTo>
                  <a:pt x="1406" y="563"/>
                </a:lnTo>
                <a:lnTo>
                  <a:pt x="1454" y="609"/>
                </a:lnTo>
                <a:lnTo>
                  <a:pt x="1500" y="657"/>
                </a:lnTo>
                <a:lnTo>
                  <a:pt x="1545" y="706"/>
                </a:lnTo>
                <a:lnTo>
                  <a:pt x="1588" y="757"/>
                </a:lnTo>
                <a:lnTo>
                  <a:pt x="1629" y="809"/>
                </a:lnTo>
                <a:lnTo>
                  <a:pt x="1669" y="862"/>
                </a:lnTo>
                <a:lnTo>
                  <a:pt x="1707" y="917"/>
                </a:lnTo>
                <a:lnTo>
                  <a:pt x="1744" y="973"/>
                </a:lnTo>
                <a:lnTo>
                  <a:pt x="1778" y="1030"/>
                </a:lnTo>
                <a:lnTo>
                  <a:pt x="1811" y="1088"/>
                </a:lnTo>
                <a:lnTo>
                  <a:pt x="1842" y="1146"/>
                </a:lnTo>
                <a:lnTo>
                  <a:pt x="1871" y="1206"/>
                </a:lnTo>
                <a:lnTo>
                  <a:pt x="1898" y="1267"/>
                </a:lnTo>
                <a:lnTo>
                  <a:pt x="1923" y="1329"/>
                </a:lnTo>
                <a:lnTo>
                  <a:pt x="1946" y="1391"/>
                </a:lnTo>
                <a:lnTo>
                  <a:pt x="1967" y="1455"/>
                </a:lnTo>
                <a:lnTo>
                  <a:pt x="1986" y="1518"/>
                </a:lnTo>
                <a:lnTo>
                  <a:pt x="2003" y="1583"/>
                </a:lnTo>
                <a:lnTo>
                  <a:pt x="2018" y="1648"/>
                </a:lnTo>
                <a:lnTo>
                  <a:pt x="2030" y="1713"/>
                </a:lnTo>
                <a:lnTo>
                  <a:pt x="2041" y="1779"/>
                </a:lnTo>
                <a:lnTo>
                  <a:pt x="2050" y="1845"/>
                </a:lnTo>
                <a:lnTo>
                  <a:pt x="2056" y="1911"/>
                </a:lnTo>
                <a:lnTo>
                  <a:pt x="2060" y="1977"/>
                </a:lnTo>
                <a:lnTo>
                  <a:pt x="2063" y="2044"/>
                </a:lnTo>
                <a:lnTo>
                  <a:pt x="973" y="2063"/>
                </a:lnTo>
                <a:lnTo>
                  <a:pt x="972" y="2031"/>
                </a:lnTo>
                <a:lnTo>
                  <a:pt x="970" y="1999"/>
                </a:lnTo>
                <a:lnTo>
                  <a:pt x="967" y="1968"/>
                </a:lnTo>
                <a:lnTo>
                  <a:pt x="963" y="1937"/>
                </a:lnTo>
                <a:lnTo>
                  <a:pt x="957" y="1905"/>
                </a:lnTo>
                <a:lnTo>
                  <a:pt x="951" y="1874"/>
                </a:lnTo>
                <a:lnTo>
                  <a:pt x="944" y="1843"/>
                </a:lnTo>
                <a:lnTo>
                  <a:pt x="936" y="1813"/>
                </a:lnTo>
                <a:lnTo>
                  <a:pt x="927" y="1782"/>
                </a:lnTo>
                <a:lnTo>
                  <a:pt x="917" y="1752"/>
                </a:lnTo>
                <a:lnTo>
                  <a:pt x="906" y="1723"/>
                </a:lnTo>
                <a:lnTo>
                  <a:pt x="894" y="1693"/>
                </a:lnTo>
                <a:lnTo>
                  <a:pt x="881" y="1664"/>
                </a:lnTo>
                <a:lnTo>
                  <a:pt x="868" y="1636"/>
                </a:lnTo>
                <a:lnTo>
                  <a:pt x="853" y="1608"/>
                </a:lnTo>
                <a:lnTo>
                  <a:pt x="837" y="1580"/>
                </a:lnTo>
                <a:lnTo>
                  <a:pt x="821" y="1553"/>
                </a:lnTo>
                <a:lnTo>
                  <a:pt x="804" y="1526"/>
                </a:lnTo>
                <a:lnTo>
                  <a:pt x="786" y="1500"/>
                </a:lnTo>
                <a:lnTo>
                  <a:pt x="767" y="1475"/>
                </a:lnTo>
                <a:lnTo>
                  <a:pt x="747" y="1450"/>
                </a:lnTo>
                <a:lnTo>
                  <a:pt x="726" y="1426"/>
                </a:lnTo>
                <a:lnTo>
                  <a:pt x="705" y="1403"/>
                </a:lnTo>
                <a:lnTo>
                  <a:pt x="683" y="1380"/>
                </a:lnTo>
                <a:lnTo>
                  <a:pt x="660" y="1358"/>
                </a:lnTo>
                <a:lnTo>
                  <a:pt x="637" y="1337"/>
                </a:lnTo>
                <a:lnTo>
                  <a:pt x="613" y="1316"/>
                </a:lnTo>
                <a:lnTo>
                  <a:pt x="588" y="1296"/>
                </a:lnTo>
                <a:lnTo>
                  <a:pt x="563" y="1277"/>
                </a:lnTo>
                <a:lnTo>
                  <a:pt x="537" y="1259"/>
                </a:lnTo>
                <a:lnTo>
                  <a:pt x="510" y="1242"/>
                </a:lnTo>
                <a:lnTo>
                  <a:pt x="483" y="1226"/>
                </a:lnTo>
                <a:lnTo>
                  <a:pt x="455" y="1210"/>
                </a:lnTo>
                <a:lnTo>
                  <a:pt x="427" y="1195"/>
                </a:lnTo>
                <a:lnTo>
                  <a:pt x="399" y="1182"/>
                </a:lnTo>
                <a:lnTo>
                  <a:pt x="370" y="1169"/>
                </a:lnTo>
                <a:lnTo>
                  <a:pt x="340" y="1157"/>
                </a:lnTo>
                <a:lnTo>
                  <a:pt x="311" y="1146"/>
                </a:lnTo>
                <a:lnTo>
                  <a:pt x="281" y="1136"/>
                </a:lnTo>
                <a:lnTo>
                  <a:pt x="250" y="1127"/>
                </a:lnTo>
                <a:lnTo>
                  <a:pt x="220" y="1119"/>
                </a:lnTo>
                <a:lnTo>
                  <a:pt x="189" y="1112"/>
                </a:lnTo>
                <a:lnTo>
                  <a:pt x="158" y="1106"/>
                </a:lnTo>
                <a:lnTo>
                  <a:pt x="126" y="1100"/>
                </a:lnTo>
                <a:lnTo>
                  <a:pt x="95" y="1096"/>
                </a:lnTo>
                <a:lnTo>
                  <a:pt x="64" y="1093"/>
                </a:lnTo>
                <a:lnTo>
                  <a:pt x="32" y="1091"/>
                </a:lnTo>
                <a:lnTo>
                  <a:pt x="0" y="1090"/>
                </a:lnTo>
                <a:close/>
              </a:path>
            </a:pathLst>
          </a:custGeom>
          <a:solidFill>
            <a:srgbClr val="CB6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0096" y="5175504"/>
            <a:ext cx="1920240" cy="676656"/>
          </a:xfrm>
          <a:prstGeom prst="rect">
            <a:avLst/>
          </a:prstGeom>
          <a:noFill/>
        </p:spPr>
        <p:txBody>
          <a:bodyPr wrap="square" lIns="9144" rIns="9144" tIns="9144" bIns="9144">
            <a:spAutoFit/>
          </a:bodyPr>
          <a:lstStyle/>
          <a:p>
            <a:pPr algn="ctr">
              <a:lnSpc>
                <a:spcPct val="115000"/>
              </a:lnSpc>
              <a:spcAft>
                <a:spcPts val="700"/>
              </a:spcAft>
              <a:defRPr sz="1900" b="1">
                <a:solidFill>
                  <a:srgbClr val="FFFFFF"/>
                </a:solidFill>
                <a:latin typeface="Liberation Sans"/>
              </a:defRPr>
            </a:pPr>
            <a:r>
              <a:rPr>
                <a:ea typeface="Liberation Sans"/>
              </a:rPr>
              <a:t>Transfer</a:t>
            </a:r>
          </a:p>
          <a:p>
            <a:pPr algn="ctr">
              <a:lnSpc>
                <a:spcPct val="115000"/>
              </a:lnSpc>
              <a:spcAft>
                <a:spcPts val="700"/>
              </a:spcAft>
              <a:defRPr sz="1900" b="1">
                <a:solidFill>
                  <a:srgbClr val="FFFFFF"/>
                </a:solidFill>
                <a:latin typeface="Liberation Sans"/>
              </a:defRPr>
            </a:pPr>
            <a:r>
              <a:rPr>
                <a:ea typeface="Liberation Sans"/>
              </a:rPr>
              <a:t>activity</a:t>
            </a:r>
          </a:p>
        </p:txBody>
      </p:sp>
      <p:sp>
        <p:nvSpPr>
          <p:cNvPr id="16" name="TextBox 15"/>
          <p:cNvSpPr txBox="1"/>
          <p:nvPr/>
        </p:nvSpPr>
        <p:spPr>
          <a:xfrm>
            <a:off x="7406640" y="5175504"/>
            <a:ext cx="1920240" cy="676656"/>
          </a:xfrm>
          <a:prstGeom prst="rect">
            <a:avLst/>
          </a:prstGeom>
          <a:noFill/>
        </p:spPr>
        <p:txBody>
          <a:bodyPr wrap="square" lIns="9144" rIns="9144" tIns="9144" bIns="9144">
            <a:spAutoFit/>
          </a:bodyPr>
          <a:lstStyle/>
          <a:p>
            <a:pPr algn="ctr">
              <a:lnSpc>
                <a:spcPct val="115000"/>
              </a:lnSpc>
              <a:spcAft>
                <a:spcPts val="700"/>
              </a:spcAft>
              <a:defRPr sz="1900" b="1">
                <a:solidFill>
                  <a:srgbClr val="FFFFFF"/>
                </a:solidFill>
                <a:latin typeface="Liberation Sans"/>
              </a:defRPr>
            </a:pPr>
            <a:r>
              <a:rPr>
                <a:ea typeface="Liberation Sans"/>
              </a:rPr>
              <a:t>Toilet</a:t>
            </a:r>
          </a:p>
          <a:p>
            <a:pPr algn="ctr">
              <a:lnSpc>
                <a:spcPct val="115000"/>
              </a:lnSpc>
              <a:spcAft>
                <a:spcPts val="700"/>
              </a:spcAft>
              <a:defRPr sz="1900" b="1">
                <a:solidFill>
                  <a:srgbClr val="FFFFFF"/>
                </a:solidFill>
                <a:latin typeface="Liberation Sans"/>
              </a:defRPr>
            </a:pPr>
            <a:r>
              <a:rPr>
                <a:ea typeface="Liberation Sans"/>
              </a:rPr>
              <a:t>access</a:t>
            </a:r>
          </a:p>
        </p:txBody>
      </p:sp>
      <p:sp>
        <p:nvSpPr>
          <p:cNvPr id="17" name="TextBox 16"/>
          <p:cNvSpPr txBox="1"/>
          <p:nvPr/>
        </p:nvSpPr>
        <p:spPr>
          <a:xfrm>
            <a:off x="3622910" y="4922276"/>
            <a:ext cx="2011680" cy="804672"/>
          </a:xfrm>
          <a:prstGeom prst="rect">
            <a:avLst/>
          </a:prstGeom>
          <a:noFill/>
        </p:spPr>
        <p:txBody>
          <a:bodyPr wrap="square" lIns="9144" rIns="9144" tIns="9144" bIns="9144">
            <a:spAutoFit/>
          </a:bodyPr>
          <a:lstStyle/>
          <a:p>
            <a:pPr algn="ctr">
              <a:lnSpc>
                <a:spcPct val="115000"/>
              </a:lnSpc>
              <a:spcAft>
                <a:spcPts val="700"/>
              </a:spcAft>
              <a:defRPr sz="2200" b="1">
                <a:solidFill>
                  <a:srgbClr val="18343D"/>
                </a:solidFill>
                <a:latin typeface="Liberation Sans"/>
              </a:defRPr>
            </a:pPr>
            <a:r>
              <a:rPr>
                <a:ea typeface="Liberation Sans"/>
              </a:rPr>
              <a:t>Event</a:t>
            </a:r>
          </a:p>
          <a:p>
            <a:pPr algn="ctr">
              <a:lnSpc>
                <a:spcPct val="115000"/>
              </a:lnSpc>
              <a:spcAft>
                <a:spcPts val="700"/>
              </a:spcAft>
              <a:defRPr sz="2200" b="1">
                <a:solidFill>
                  <a:srgbClr val="18343D"/>
                </a:solidFill>
                <a:latin typeface="Liberation Sans"/>
              </a:defRPr>
            </a:pPr>
            <a:r>
              <a:rPr>
                <a:ea typeface="Liberation Sans"/>
              </a:rPr>
              <a:t>frequency</a:t>
            </a:r>
          </a:p>
        </p:txBody>
      </p:sp>
      <p:sp>
        <p:nvSpPr>
          <p:cNvPr id="18" name="TextBox 17"/>
          <p:cNvSpPr txBox="1"/>
          <p:nvPr/>
        </p:nvSpPr>
        <p:spPr>
          <a:xfrm>
            <a:off x="5196596" y="3348590"/>
            <a:ext cx="2011680" cy="804672"/>
          </a:xfrm>
          <a:prstGeom prst="rect">
            <a:avLst/>
          </a:prstGeom>
          <a:noFill/>
        </p:spPr>
        <p:txBody>
          <a:bodyPr wrap="square" lIns="9144" rIns="9144" tIns="9144" bIns="9144">
            <a:spAutoFit/>
          </a:bodyPr>
          <a:lstStyle/>
          <a:p>
            <a:pPr algn="ctr">
              <a:lnSpc>
                <a:spcPct val="115000"/>
              </a:lnSpc>
              <a:spcAft>
                <a:spcPts val="700"/>
              </a:spcAft>
              <a:defRPr sz="2200" b="1">
                <a:solidFill>
                  <a:srgbClr val="18343D"/>
                </a:solidFill>
                <a:latin typeface="Liberation Sans"/>
              </a:defRPr>
            </a:pPr>
            <a:r>
              <a:rPr>
                <a:ea typeface="Liberation Sans"/>
              </a:rPr>
              <a:t>Temporal</a:t>
            </a:r>
          </a:p>
          <a:p>
            <a:pPr algn="ctr">
              <a:lnSpc>
                <a:spcPct val="115000"/>
              </a:lnSpc>
              <a:spcAft>
                <a:spcPts val="700"/>
              </a:spcAft>
              <a:defRPr sz="2200" b="1">
                <a:solidFill>
                  <a:srgbClr val="18343D"/>
                </a:solidFill>
                <a:latin typeface="Liberation Sans"/>
              </a:defRPr>
            </a:pPr>
            <a:r>
              <a:rPr>
                <a:ea typeface="Liberation Sans"/>
              </a:rPr>
              <a:t>profile</a:t>
            </a:r>
          </a:p>
        </p:txBody>
      </p:sp>
      <p:sp>
        <p:nvSpPr>
          <p:cNvPr id="19" name="TextBox 18"/>
          <p:cNvSpPr txBox="1"/>
          <p:nvPr/>
        </p:nvSpPr>
        <p:spPr>
          <a:xfrm>
            <a:off x="7422123" y="3348590"/>
            <a:ext cx="2011680" cy="804672"/>
          </a:xfrm>
          <a:prstGeom prst="rect">
            <a:avLst/>
          </a:prstGeom>
          <a:noFill/>
        </p:spPr>
        <p:txBody>
          <a:bodyPr wrap="square" lIns="9144" rIns="9144" tIns="9144" bIns="9144">
            <a:spAutoFit/>
          </a:bodyPr>
          <a:lstStyle/>
          <a:p>
            <a:pPr algn="ctr">
              <a:lnSpc>
                <a:spcPct val="115000"/>
              </a:lnSpc>
              <a:spcAft>
                <a:spcPts val="700"/>
              </a:spcAft>
              <a:defRPr sz="2200" b="1">
                <a:solidFill>
                  <a:srgbClr val="18343D"/>
                </a:solidFill>
                <a:latin typeface="Liberation Sans"/>
              </a:defRPr>
            </a:pPr>
            <a:r>
              <a:rPr>
                <a:ea typeface="Liberation Sans"/>
              </a:rPr>
              <a:t>Walking</a:t>
            </a:r>
          </a:p>
          <a:p>
            <a:pPr algn="ctr">
              <a:lnSpc>
                <a:spcPct val="115000"/>
              </a:lnSpc>
              <a:spcAft>
                <a:spcPts val="700"/>
              </a:spcAft>
              <a:defRPr sz="2200" b="1">
                <a:solidFill>
                  <a:srgbClr val="18343D"/>
                </a:solidFill>
                <a:latin typeface="Liberation Sans"/>
              </a:defRPr>
            </a:pPr>
            <a:r>
              <a:rPr>
                <a:ea typeface="Liberation Sans"/>
              </a:rPr>
              <a:t>cost</a:t>
            </a:r>
          </a:p>
        </p:txBody>
      </p:sp>
      <p:sp>
        <p:nvSpPr>
          <p:cNvPr id="20" name="TextBox 19"/>
          <p:cNvSpPr txBox="1"/>
          <p:nvPr/>
        </p:nvSpPr>
        <p:spPr>
          <a:xfrm>
            <a:off x="8995809" y="4922276"/>
            <a:ext cx="2011680" cy="804672"/>
          </a:xfrm>
          <a:prstGeom prst="rect">
            <a:avLst/>
          </a:prstGeom>
          <a:noFill/>
        </p:spPr>
        <p:txBody>
          <a:bodyPr wrap="square" lIns="9144" rIns="9144" tIns="9144" bIns="9144">
            <a:spAutoFit/>
          </a:bodyPr>
          <a:lstStyle/>
          <a:p>
            <a:pPr algn="ctr">
              <a:lnSpc>
                <a:spcPct val="115000"/>
              </a:lnSpc>
              <a:spcAft>
                <a:spcPts val="700"/>
              </a:spcAft>
              <a:defRPr sz="2200" b="1">
                <a:solidFill>
                  <a:srgbClr val="18343D"/>
                </a:solidFill>
                <a:latin typeface="Liberation Sans"/>
              </a:defRPr>
            </a:pPr>
            <a:r>
              <a:rPr>
                <a:ea typeface="Liberation Sans"/>
              </a:rPr>
              <a:t>Opening</a:t>
            </a:r>
          </a:p>
          <a:p>
            <a:pPr algn="ctr">
              <a:lnSpc>
                <a:spcPct val="115000"/>
              </a:lnSpc>
              <a:spcAft>
                <a:spcPts val="700"/>
              </a:spcAft>
              <a:defRPr sz="2200" b="1">
                <a:solidFill>
                  <a:srgbClr val="18343D"/>
                </a:solidFill>
                <a:latin typeface="Liberation Sans"/>
              </a:defRPr>
            </a:pPr>
            <a:r>
              <a:rPr>
                <a:ea typeface="Liberation Sans"/>
              </a:rPr>
              <a:t>hours</a:t>
            </a:r>
          </a:p>
        </p:txBody>
      </p:sp>
      <p:sp>
        <p:nvSpPr>
          <p:cNvPr id="21" name="TextBox 20"/>
          <p:cNvSpPr txBox="1"/>
          <p:nvPr/>
        </p:nvSpPr>
        <p:spPr>
          <a:xfrm>
            <a:off x="6318504" y="6025896"/>
            <a:ext cx="1993392" cy="530352"/>
          </a:xfrm>
          <a:prstGeom prst="rect">
            <a:avLst/>
          </a:prstGeom>
          <a:noFill/>
        </p:spPr>
        <p:txBody>
          <a:bodyPr wrap="square" lIns="9144" rIns="9144" tIns="9144" bIns="9144">
            <a:spAutoFit/>
          </a:bodyPr>
          <a:lstStyle/>
          <a:p>
            <a:pPr algn="ctr">
              <a:lnSpc>
                <a:spcPct val="115000"/>
              </a:lnSpc>
              <a:spcAft>
                <a:spcPts val="700"/>
              </a:spcAft>
              <a:defRPr sz="1300" b="1">
                <a:solidFill>
                  <a:srgbClr val="137D76"/>
                </a:solidFill>
                <a:latin typeface="Liberation Sans"/>
              </a:defRPr>
            </a:pPr>
            <a:r>
              <a:rPr>
                <a:ea typeface="Liberation Sans"/>
              </a:rPr>
              <a:t>SERVICE</a:t>
            </a:r>
          </a:p>
          <a:p>
            <a:pPr algn="ctr">
              <a:lnSpc>
                <a:spcPct val="115000"/>
              </a:lnSpc>
              <a:spcAft>
                <a:spcPts val="700"/>
              </a:spcAft>
              <a:defRPr sz="1300" b="1">
                <a:solidFill>
                  <a:srgbClr val="137D76"/>
                </a:solidFill>
                <a:latin typeface="Liberation Sans"/>
              </a:defRPr>
            </a:pPr>
            <a:r>
              <a:rPr>
                <a:ea typeface="Liberation Sans"/>
              </a:rPr>
              <a:t>ALIGNMENT</a:t>
            </a:r>
          </a:p>
        </p:txBody>
      </p:sp>
      <p:sp>
        <p:nvSpPr>
          <p:cNvPr id="22" name="TextBox 21"/>
          <p:cNvSpPr txBox="1"/>
          <p:nvPr/>
        </p:nvSpPr>
        <p:spPr>
          <a:xfrm>
            <a:off x="786384" y="3200400"/>
            <a:ext cx="2743200" cy="832104"/>
          </a:xfrm>
          <a:prstGeom prst="rect">
            <a:avLst/>
          </a:prstGeom>
          <a:noFill/>
        </p:spPr>
        <p:txBody>
          <a:bodyPr wrap="square" lIns="9144" rIns="9144" tIns="9144" bIns="9144">
            <a:spAutoFit/>
          </a:bodyPr>
          <a:lstStyle/>
          <a:p>
            <a:pPr>
              <a:lnSpc>
                <a:spcPct val="115000"/>
              </a:lnSpc>
              <a:spcAft>
                <a:spcPts val="700"/>
              </a:spcAft>
              <a:defRPr sz="2000" b="0">
                <a:solidFill>
                  <a:srgbClr val="18343D"/>
                </a:solidFill>
                <a:latin typeface="Liberation Sans"/>
              </a:defRPr>
            </a:pPr>
            <a:r>
              <a:rPr>
                <a:ea typeface="Liberation Sans"/>
              </a:rPr>
              <a:t>When transfers</a:t>
            </a:r>
          </a:p>
          <a:p>
            <a:pPr>
              <a:lnSpc>
                <a:spcPct val="115000"/>
              </a:lnSpc>
              <a:spcAft>
                <a:spcPts val="700"/>
              </a:spcAft>
              <a:defRPr sz="2000" b="0">
                <a:solidFill>
                  <a:srgbClr val="18343D"/>
                </a:solidFill>
                <a:latin typeface="Liberation Sans"/>
              </a:defRPr>
            </a:pPr>
            <a:r>
              <a:rPr>
                <a:ea typeface="Liberation Sans"/>
              </a:rPr>
              <a:t>concentrate</a:t>
            </a:r>
          </a:p>
        </p:txBody>
      </p:sp>
      <p:sp>
        <p:nvSpPr>
          <p:cNvPr id="23" name="TextBox 22"/>
          <p:cNvSpPr txBox="1"/>
          <p:nvPr/>
        </p:nvSpPr>
        <p:spPr>
          <a:xfrm>
            <a:off x="786384" y="4846320"/>
            <a:ext cx="2743200" cy="832104"/>
          </a:xfrm>
          <a:prstGeom prst="rect">
            <a:avLst/>
          </a:prstGeom>
          <a:noFill/>
        </p:spPr>
        <p:txBody>
          <a:bodyPr wrap="square" lIns="9144" rIns="9144" tIns="9144" bIns="9144">
            <a:spAutoFit/>
          </a:bodyPr>
          <a:lstStyle/>
          <a:p>
            <a:pPr>
              <a:lnSpc>
                <a:spcPct val="115000"/>
              </a:lnSpc>
              <a:spcAft>
                <a:spcPts val="700"/>
              </a:spcAft>
              <a:defRPr sz="2000" b="0">
                <a:solidFill>
                  <a:srgbClr val="60747A"/>
                </a:solidFill>
                <a:latin typeface="Liberation Sans"/>
              </a:defRPr>
            </a:pPr>
            <a:r>
              <a:rPr>
                <a:ea typeface="Liberation Sans"/>
              </a:rPr>
              <a:t>Where transfers</a:t>
            </a:r>
          </a:p>
          <a:p>
            <a:pPr>
              <a:lnSpc>
                <a:spcPct val="115000"/>
              </a:lnSpc>
              <a:spcAft>
                <a:spcPts val="700"/>
              </a:spcAft>
              <a:defRPr sz="2000" b="0">
                <a:solidFill>
                  <a:srgbClr val="60747A"/>
                </a:solidFill>
                <a:latin typeface="Liberation Sans"/>
              </a:defRPr>
            </a:pPr>
            <a:r>
              <a:rPr>
                <a:ea typeface="Liberation Sans"/>
              </a:rPr>
              <a:t>occur frequently</a:t>
            </a:r>
          </a:p>
        </p:txBody>
      </p:sp>
      <p:sp>
        <p:nvSpPr>
          <p:cNvPr id="24" name="TextBox 23"/>
          <p:cNvSpPr txBox="1"/>
          <p:nvPr/>
        </p:nvSpPr>
        <p:spPr>
          <a:xfrm>
            <a:off x="11430000" y="3200400"/>
            <a:ext cx="2432304" cy="832104"/>
          </a:xfrm>
          <a:prstGeom prst="rect">
            <a:avLst/>
          </a:prstGeom>
          <a:noFill/>
        </p:spPr>
        <p:txBody>
          <a:bodyPr wrap="square" lIns="9144" rIns="9144" tIns="9144" bIns="9144">
            <a:spAutoFit/>
          </a:bodyPr>
          <a:lstStyle/>
          <a:p>
            <a:pPr>
              <a:lnSpc>
                <a:spcPct val="115000"/>
              </a:lnSpc>
              <a:spcAft>
                <a:spcPts val="700"/>
              </a:spcAft>
              <a:defRPr sz="2000" b="0">
                <a:solidFill>
                  <a:srgbClr val="18343D"/>
                </a:solidFill>
                <a:latin typeface="Liberation Sans"/>
              </a:defRPr>
            </a:pPr>
            <a:r>
              <a:rPr>
                <a:ea typeface="Liberation Sans"/>
              </a:rPr>
              <a:t>Effort to reach</a:t>
            </a:r>
          </a:p>
          <a:p>
            <a:pPr>
              <a:lnSpc>
                <a:spcPct val="115000"/>
              </a:lnSpc>
              <a:spcAft>
                <a:spcPts val="700"/>
              </a:spcAft>
              <a:defRPr sz="2000" b="0">
                <a:solidFill>
                  <a:srgbClr val="18343D"/>
                </a:solidFill>
                <a:latin typeface="Liberation Sans"/>
              </a:defRPr>
            </a:pPr>
            <a:r>
              <a:rPr>
                <a:ea typeface="Liberation Sans"/>
              </a:rPr>
              <a:t>a toilet</a:t>
            </a:r>
          </a:p>
        </p:txBody>
      </p:sp>
      <p:sp>
        <p:nvSpPr>
          <p:cNvPr id="25" name="TextBox 24"/>
          <p:cNvSpPr txBox="1"/>
          <p:nvPr/>
        </p:nvSpPr>
        <p:spPr>
          <a:xfrm>
            <a:off x="11430000" y="4846320"/>
            <a:ext cx="2432304" cy="832104"/>
          </a:xfrm>
          <a:prstGeom prst="rect">
            <a:avLst/>
          </a:prstGeom>
          <a:noFill/>
        </p:spPr>
        <p:txBody>
          <a:bodyPr wrap="square" lIns="9144" rIns="9144" tIns="9144" bIns="9144">
            <a:spAutoFit/>
          </a:bodyPr>
          <a:lstStyle/>
          <a:p>
            <a:pPr>
              <a:lnSpc>
                <a:spcPct val="115000"/>
              </a:lnSpc>
              <a:spcAft>
                <a:spcPts val="700"/>
              </a:spcAft>
              <a:defRPr sz="2000" b="0">
                <a:solidFill>
                  <a:srgbClr val="60747A"/>
                </a:solidFill>
                <a:latin typeface="Liberation Sans"/>
              </a:defRPr>
            </a:pPr>
            <a:r>
              <a:rPr>
                <a:ea typeface="Liberation Sans"/>
              </a:rPr>
              <a:t>Facilities open</a:t>
            </a:r>
          </a:p>
          <a:p>
            <a:pPr>
              <a:lnSpc>
                <a:spcPct val="115000"/>
              </a:lnSpc>
              <a:spcAft>
                <a:spcPts val="700"/>
              </a:spcAft>
              <a:defRPr sz="2000" b="0">
                <a:solidFill>
                  <a:srgbClr val="60747A"/>
                </a:solidFill>
                <a:latin typeface="Liberation Sans"/>
              </a:defRPr>
            </a:pPr>
            <a:r>
              <a:rPr>
                <a:ea typeface="Liberation Sans"/>
              </a:rPr>
              <a:t>at that time</a:t>
            </a:r>
          </a:p>
        </p:txBody>
      </p:sp>
      <p:cxnSp>
        <p:nvCxnSpPr>
          <p:cNvPr id="26" name="Connector 25"/>
          <p:cNvCxnSpPr/>
          <p:nvPr/>
        </p:nvCxnSpPr>
        <p:spPr>
          <a:xfrm>
            <a:off x="914400" y="6812280"/>
            <a:ext cx="12801600" cy="0"/>
          </a:xfrm>
          <a:prstGeom prst="line">
            <a:avLst/>
          </a:prstGeom>
          <a:ln w="254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78408" y="7013448"/>
            <a:ext cx="12710160" cy="356616"/>
          </a:xfrm>
          <a:prstGeom prst="rect">
            <a:avLst/>
          </a:prstGeom>
          <a:noFill/>
        </p:spPr>
        <p:txBody>
          <a:bodyPr wrap="square" lIns="9144" rIns="9144" tIns="9144" bIns="9144">
            <a:spAutoFit/>
          </a:bodyPr>
          <a:lstStyle/>
          <a:p>
            <a:pPr algn="ctr">
              <a:lnSpc>
                <a:spcPct val="115000"/>
              </a:lnSpc>
              <a:spcAft>
                <a:spcPts val="700"/>
              </a:spcAft>
              <a:defRPr sz="2100" b="1">
                <a:solidFill>
                  <a:srgbClr val="137D76"/>
                </a:solidFill>
                <a:latin typeface="Liberation Sans"/>
              </a:defRPr>
            </a:pPr>
            <a:r>
              <a:rPr>
                <a:ea typeface="Liberation Sans"/>
              </a:rPr>
              <a:t>The intersection identifies busy transfer locations with limited toilet access.</a:t>
            </a:r>
          </a:p>
        </p:txBody>
      </p:sp>
      <p:sp>
        <p:nvSpPr>
          <p:cNvPr id="28" name="TextBox 27"/>
          <p:cNvSpPr txBox="1"/>
          <p:nvPr/>
        </p:nvSpPr>
        <p:spPr>
          <a:xfrm>
            <a:off x="768096" y="7488936"/>
            <a:ext cx="1271016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Conceptual framework. Sector size carries no numerical meaning.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TRANSFER ACTIVITY</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Where and when do passengers transfer?</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Frequent transfer locations are identified from passenger events within comparable observation periods.</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03 / 07</a:t>
            </a:r>
          </a:p>
        </p:txBody>
      </p:sp>
      <p:sp>
        <p:nvSpPr>
          <p:cNvPr id="9" name="Rounded Rectangle 8"/>
          <p:cNvSpPr/>
          <p:nvPr/>
        </p:nvSpPr>
        <p:spPr>
          <a:xfrm>
            <a:off x="731520" y="2615184"/>
            <a:ext cx="4169663" cy="22128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852928"/>
            <a:ext cx="3730752" cy="365760"/>
          </a:xfrm>
          <a:prstGeom prst="rect">
            <a:avLst/>
          </a:prstGeom>
          <a:noFill/>
        </p:spPr>
        <p:txBody>
          <a:bodyPr wrap="square" lIns="9144" rIns="9144" tIns="9144" bIns="9144">
            <a:spAutoFit/>
          </a:bodyPr>
          <a:lstStyle/>
          <a:p>
            <a:pPr>
              <a:lnSpc>
                <a:spcPct val="115000"/>
              </a:lnSpc>
              <a:spcAft>
                <a:spcPts val="700"/>
              </a:spcAft>
              <a:defRPr sz="2500" b="1">
                <a:solidFill>
                  <a:srgbClr val="137D76"/>
                </a:solidFill>
                <a:latin typeface="Liberation Sans"/>
              </a:defRPr>
            </a:pPr>
            <a:r>
              <a:rPr>
                <a:ea typeface="Liberation Sans"/>
              </a:rPr>
              <a:t>Event</a:t>
            </a:r>
          </a:p>
        </p:txBody>
      </p:sp>
      <p:sp>
        <p:nvSpPr>
          <p:cNvPr id="11" name="TextBox 10"/>
          <p:cNvSpPr txBox="1"/>
          <p:nvPr/>
        </p:nvSpPr>
        <p:spPr>
          <a:xfrm>
            <a:off x="950976" y="3429000"/>
            <a:ext cx="3730752" cy="365760"/>
          </a:xfrm>
          <a:prstGeom prst="rect">
            <a:avLst/>
          </a:prstGeom>
          <a:noFill/>
        </p:spPr>
        <p:txBody>
          <a:bodyPr wrap="square" lIns="9144" rIns="9144" tIns="9144" bIns="9144">
            <a:spAutoFit/>
          </a:bodyPr>
          <a:lstStyle/>
          <a:p>
            <a:pPr>
              <a:lnSpc>
                <a:spcPct val="115000"/>
              </a:lnSpc>
              <a:spcAft>
                <a:spcPts val="700"/>
              </a:spcAft>
              <a:defRPr sz="2000" b="1">
                <a:solidFill>
                  <a:srgbClr val="18343D"/>
                </a:solidFill>
                <a:latin typeface="Liberation Sans"/>
              </a:defRPr>
            </a:pPr>
            <a:r>
              <a:rPr>
                <a:ea typeface="Liberation Sans"/>
              </a:rPr>
              <a:t>A valid connection</a:t>
            </a:r>
          </a:p>
        </p:txBody>
      </p:sp>
      <p:sp>
        <p:nvSpPr>
          <p:cNvPr id="12" name="TextBox 11"/>
          <p:cNvSpPr txBox="1"/>
          <p:nvPr/>
        </p:nvSpPr>
        <p:spPr>
          <a:xfrm>
            <a:off x="950976" y="3950208"/>
            <a:ext cx="3730752" cy="685800"/>
          </a:xfrm>
          <a:prstGeom prst="rect">
            <a:avLst/>
          </a:prstGeom>
          <a:noFill/>
        </p:spPr>
        <p:txBody>
          <a:bodyPr wrap="square" lIns="9144" rIns="9144" tIns="9144" bIns="9144">
            <a:spAutoFit/>
          </a:bodyPr>
          <a:lstStyle/>
          <a:p>
            <a:pPr>
              <a:lnSpc>
                <a:spcPct val="115000"/>
              </a:lnSpc>
              <a:spcAft>
                <a:spcPts val="700"/>
              </a:spcAft>
              <a:defRPr sz="1900" b="0">
                <a:solidFill>
                  <a:srgbClr val="60747A"/>
                </a:solidFill>
                <a:latin typeface="Liberation Sans"/>
              </a:defRPr>
            </a:pPr>
            <a:r>
              <a:rPr>
                <a:ea typeface="Liberation Sans"/>
              </a:rPr>
              <a:t>Link successive journey legs</a:t>
            </a:r>
          </a:p>
          <a:p>
            <a:pPr>
              <a:lnSpc>
                <a:spcPct val="115000"/>
              </a:lnSpc>
              <a:spcAft>
                <a:spcPts val="700"/>
              </a:spcAft>
              <a:defRPr sz="1900" b="0">
                <a:solidFill>
                  <a:srgbClr val="60747A"/>
                </a:solidFill>
                <a:latin typeface="Liberation Sans"/>
              </a:defRPr>
            </a:pPr>
            <a:r>
              <a:rPr>
                <a:ea typeface="Liberation Sans"/>
              </a:rPr>
              <a:t>to a transfer location and time.</a:t>
            </a:r>
          </a:p>
        </p:txBody>
      </p:sp>
      <p:sp>
        <p:nvSpPr>
          <p:cNvPr id="13" name="Rounded Rectangle 12"/>
          <p:cNvSpPr/>
          <p:nvPr/>
        </p:nvSpPr>
        <p:spPr>
          <a:xfrm>
            <a:off x="5184648" y="2615184"/>
            <a:ext cx="4169663" cy="22128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04104" y="2852928"/>
            <a:ext cx="3730752" cy="365760"/>
          </a:xfrm>
          <a:prstGeom prst="rect">
            <a:avLst/>
          </a:prstGeom>
          <a:noFill/>
        </p:spPr>
        <p:txBody>
          <a:bodyPr wrap="square" lIns="9144" rIns="9144" tIns="9144" bIns="9144">
            <a:spAutoFit/>
          </a:bodyPr>
          <a:lstStyle/>
          <a:p>
            <a:pPr>
              <a:lnSpc>
                <a:spcPct val="115000"/>
              </a:lnSpc>
              <a:spcAft>
                <a:spcPts val="700"/>
              </a:spcAft>
              <a:defRPr sz="2500" b="1">
                <a:solidFill>
                  <a:srgbClr val="137D76"/>
                </a:solidFill>
                <a:latin typeface="Liberation Sans"/>
              </a:defRPr>
            </a:pPr>
            <a:r>
              <a:rPr>
                <a:ea typeface="Liberation Sans"/>
              </a:rPr>
              <a:t>Location</a:t>
            </a:r>
          </a:p>
        </p:txBody>
      </p:sp>
      <p:sp>
        <p:nvSpPr>
          <p:cNvPr id="15" name="TextBox 14"/>
          <p:cNvSpPr txBox="1"/>
          <p:nvPr/>
        </p:nvSpPr>
        <p:spPr>
          <a:xfrm>
            <a:off x="5404104" y="3429000"/>
            <a:ext cx="3730752" cy="365760"/>
          </a:xfrm>
          <a:prstGeom prst="rect">
            <a:avLst/>
          </a:prstGeom>
          <a:noFill/>
        </p:spPr>
        <p:txBody>
          <a:bodyPr wrap="square" lIns="9144" rIns="9144" tIns="9144" bIns="9144">
            <a:spAutoFit/>
          </a:bodyPr>
          <a:lstStyle/>
          <a:p>
            <a:pPr>
              <a:lnSpc>
                <a:spcPct val="115000"/>
              </a:lnSpc>
              <a:spcAft>
                <a:spcPts val="700"/>
              </a:spcAft>
              <a:defRPr sz="2000" b="1">
                <a:solidFill>
                  <a:srgbClr val="18343D"/>
                </a:solidFill>
                <a:latin typeface="Liberation Sans"/>
              </a:defRPr>
            </a:pPr>
            <a:r>
              <a:rPr>
                <a:ea typeface="Liberation Sans"/>
              </a:rPr>
              <a:t>Stops and interchange areas</a:t>
            </a:r>
          </a:p>
        </p:txBody>
      </p:sp>
      <p:sp>
        <p:nvSpPr>
          <p:cNvPr id="16" name="TextBox 15"/>
          <p:cNvSpPr txBox="1"/>
          <p:nvPr/>
        </p:nvSpPr>
        <p:spPr>
          <a:xfrm>
            <a:off x="5404104" y="3950208"/>
            <a:ext cx="3730752" cy="685800"/>
          </a:xfrm>
          <a:prstGeom prst="rect">
            <a:avLst/>
          </a:prstGeom>
          <a:noFill/>
        </p:spPr>
        <p:txBody>
          <a:bodyPr wrap="square" lIns="9144" rIns="9144" tIns="9144" bIns="9144">
            <a:spAutoFit/>
          </a:bodyPr>
          <a:lstStyle/>
          <a:p>
            <a:pPr>
              <a:lnSpc>
                <a:spcPct val="115000"/>
              </a:lnSpc>
              <a:spcAft>
                <a:spcPts val="700"/>
              </a:spcAft>
              <a:defRPr sz="1900" b="0">
                <a:solidFill>
                  <a:srgbClr val="60747A"/>
                </a:solidFill>
                <a:latin typeface="Liberation Sans"/>
              </a:defRPr>
            </a:pPr>
            <a:r>
              <a:rPr>
                <a:ea typeface="Liberation Sans"/>
              </a:rPr>
              <a:t>Aggregate nearby stops while</a:t>
            </a:r>
          </a:p>
          <a:p>
            <a:pPr>
              <a:lnSpc>
                <a:spcPct val="115000"/>
              </a:lnSpc>
              <a:spcAft>
                <a:spcPts val="700"/>
              </a:spcAft>
              <a:defRPr sz="1900" b="0">
                <a:solidFill>
                  <a:srgbClr val="60747A"/>
                </a:solidFill>
                <a:latin typeface="Liberation Sans"/>
              </a:defRPr>
            </a:pPr>
            <a:r>
              <a:rPr>
                <a:ea typeface="Liberation Sans"/>
              </a:rPr>
              <a:t>retaining boarding direction.</a:t>
            </a:r>
          </a:p>
        </p:txBody>
      </p:sp>
      <p:sp>
        <p:nvSpPr>
          <p:cNvPr id="17" name="Rounded Rectangle 16"/>
          <p:cNvSpPr/>
          <p:nvPr/>
        </p:nvSpPr>
        <p:spPr>
          <a:xfrm>
            <a:off x="9637776" y="2615184"/>
            <a:ext cx="4169663" cy="22128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57232" y="2852928"/>
            <a:ext cx="3730752" cy="365760"/>
          </a:xfrm>
          <a:prstGeom prst="rect">
            <a:avLst/>
          </a:prstGeom>
          <a:noFill/>
        </p:spPr>
        <p:txBody>
          <a:bodyPr wrap="square" lIns="9144" rIns="9144" tIns="9144" bIns="9144">
            <a:spAutoFit/>
          </a:bodyPr>
          <a:lstStyle/>
          <a:p>
            <a:pPr>
              <a:lnSpc>
                <a:spcPct val="115000"/>
              </a:lnSpc>
              <a:spcAft>
                <a:spcPts val="700"/>
              </a:spcAft>
              <a:defRPr sz="2500" b="1">
                <a:solidFill>
                  <a:srgbClr val="137D76"/>
                </a:solidFill>
                <a:latin typeface="Liberation Sans"/>
              </a:defRPr>
            </a:pPr>
            <a:r>
              <a:rPr>
                <a:ea typeface="Liberation Sans"/>
              </a:rPr>
              <a:t>Time</a:t>
            </a:r>
          </a:p>
        </p:txBody>
      </p:sp>
      <p:sp>
        <p:nvSpPr>
          <p:cNvPr id="19" name="TextBox 18"/>
          <p:cNvSpPr txBox="1"/>
          <p:nvPr/>
        </p:nvSpPr>
        <p:spPr>
          <a:xfrm>
            <a:off x="9857232" y="3429000"/>
            <a:ext cx="3730752" cy="365760"/>
          </a:xfrm>
          <a:prstGeom prst="rect">
            <a:avLst/>
          </a:prstGeom>
          <a:noFill/>
        </p:spPr>
        <p:txBody>
          <a:bodyPr wrap="square" lIns="9144" rIns="9144" tIns="9144" bIns="9144">
            <a:spAutoFit/>
          </a:bodyPr>
          <a:lstStyle/>
          <a:p>
            <a:pPr>
              <a:lnSpc>
                <a:spcPct val="115000"/>
              </a:lnSpc>
              <a:spcAft>
                <a:spcPts val="700"/>
              </a:spcAft>
              <a:defRPr sz="2000" b="1">
                <a:solidFill>
                  <a:srgbClr val="18343D"/>
                </a:solidFill>
                <a:latin typeface="Liberation Sans"/>
              </a:defRPr>
            </a:pPr>
            <a:r>
              <a:rPr>
                <a:ea typeface="Liberation Sans"/>
              </a:rPr>
              <a:t>Consistent intervals</a:t>
            </a:r>
          </a:p>
        </p:txBody>
      </p:sp>
      <p:sp>
        <p:nvSpPr>
          <p:cNvPr id="20" name="TextBox 19"/>
          <p:cNvSpPr txBox="1"/>
          <p:nvPr/>
        </p:nvSpPr>
        <p:spPr>
          <a:xfrm>
            <a:off x="9857232" y="3950208"/>
            <a:ext cx="3730752" cy="685800"/>
          </a:xfrm>
          <a:prstGeom prst="rect">
            <a:avLst/>
          </a:prstGeom>
          <a:noFill/>
        </p:spPr>
        <p:txBody>
          <a:bodyPr wrap="square" lIns="9144" rIns="9144" tIns="9144" bIns="9144">
            <a:spAutoFit/>
          </a:bodyPr>
          <a:lstStyle/>
          <a:p>
            <a:pPr>
              <a:lnSpc>
                <a:spcPct val="115000"/>
              </a:lnSpc>
              <a:spcAft>
                <a:spcPts val="700"/>
              </a:spcAft>
              <a:defRPr sz="1900" b="0">
                <a:solidFill>
                  <a:srgbClr val="60747A"/>
                </a:solidFill>
                <a:latin typeface="Liberation Sans"/>
              </a:defRPr>
            </a:pPr>
            <a:r>
              <a:rPr>
                <a:ea typeface="Liberation Sans"/>
              </a:rPr>
              <a:t>Compare hourly activity</a:t>
            </a:r>
          </a:p>
          <a:p>
            <a:pPr>
              <a:lnSpc>
                <a:spcPct val="115000"/>
              </a:lnSpc>
              <a:spcAft>
                <a:spcPts val="700"/>
              </a:spcAft>
              <a:defRPr sz="1900" b="0">
                <a:solidFill>
                  <a:srgbClr val="60747A"/>
                </a:solidFill>
                <a:latin typeface="Liberation Sans"/>
              </a:defRPr>
            </a:pPr>
            <a:r>
              <a:rPr>
                <a:ea typeface="Liberation Sans"/>
              </a:rPr>
              <a:t>and recurring daily patterns.</a:t>
            </a:r>
          </a:p>
        </p:txBody>
      </p:sp>
      <p:sp>
        <p:nvSpPr>
          <p:cNvPr id="21" name="TextBox 20"/>
          <p:cNvSpPr txBox="1"/>
          <p:nvPr/>
        </p:nvSpPr>
        <p:spPr>
          <a:xfrm>
            <a:off x="795528" y="5276088"/>
            <a:ext cx="3291840" cy="393192"/>
          </a:xfrm>
          <a:prstGeom prst="rect">
            <a:avLst/>
          </a:prstGeom>
          <a:noFill/>
        </p:spPr>
        <p:txBody>
          <a:bodyPr wrap="square" lIns="9144" rIns="9144" tIns="9144" bIns="9144">
            <a:spAutoFit/>
          </a:bodyPr>
          <a:lstStyle/>
          <a:p>
            <a:pPr>
              <a:lnSpc>
                <a:spcPct val="115000"/>
              </a:lnSpc>
              <a:spcAft>
                <a:spcPts val="700"/>
              </a:spcAft>
              <a:defRPr sz="2300" b="1">
                <a:solidFill>
                  <a:srgbClr val="137D76"/>
                </a:solidFill>
                <a:latin typeface="Liberation Sans"/>
              </a:defRPr>
            </a:pPr>
            <a:r>
              <a:rPr>
                <a:ea typeface="Liberation Sans"/>
              </a:rPr>
              <a:t>Measures</a:t>
            </a:r>
          </a:p>
        </p:txBody>
      </p:sp>
      <p:sp>
        <p:nvSpPr>
          <p:cNvPr id="22" name="TextBox 21"/>
          <p:cNvSpPr txBox="1"/>
          <p:nvPr/>
        </p:nvSpPr>
        <p:spPr>
          <a:xfrm>
            <a:off x="4023360" y="5239512"/>
            <a:ext cx="9601200" cy="1499616"/>
          </a:xfrm>
          <a:prstGeom prst="rect">
            <a:avLst/>
          </a:prstGeom>
          <a:noFill/>
        </p:spPr>
        <p:txBody>
          <a:bodyPr wrap="square" lIns="9144" rIns="9144" tIns="9144" bIns="9144">
            <a:spAutoFit/>
          </a:bodyPr>
          <a:lstStyle/>
          <a:p>
            <a:pPr>
              <a:lnSpc>
                <a:spcPct val="115000"/>
              </a:lnSpc>
              <a:spcAft>
                <a:spcPts val="700"/>
              </a:spcAft>
              <a:defRPr sz="2400" b="0">
                <a:solidFill>
                  <a:srgbClr val="18343D"/>
                </a:solidFill>
                <a:latin typeface="Liberation Sans"/>
              </a:defRPr>
            </a:pPr>
            <a:r>
              <a:rPr>
                <a:ea typeface="Liberation Sans"/>
              </a:rPr>
              <a:t>Transfer counts within each interval</a:t>
            </a:r>
          </a:p>
          <a:p>
            <a:pPr>
              <a:lnSpc>
                <a:spcPct val="115000"/>
              </a:lnSpc>
              <a:spcAft>
                <a:spcPts val="700"/>
              </a:spcAft>
              <a:defRPr sz="2400" b="0">
                <a:solidFill>
                  <a:srgbClr val="18343D"/>
                </a:solidFill>
                <a:latin typeface="Liberation Sans"/>
              </a:defRPr>
            </a:pPr>
            <a:r>
              <a:rPr>
                <a:ea typeface="Liberation Sans"/>
              </a:rPr>
              <a:t>Peak concentration and weekday patterns</a:t>
            </a:r>
          </a:p>
          <a:p>
            <a:pPr>
              <a:lnSpc>
                <a:spcPct val="115000"/>
              </a:lnSpc>
              <a:spcAft>
                <a:spcPts val="700"/>
              </a:spcAft>
              <a:defRPr sz="2400" b="0">
                <a:solidFill>
                  <a:srgbClr val="18343D"/>
                </a:solidFill>
                <a:latin typeface="Liberation Sans"/>
              </a:defRPr>
            </a:pPr>
            <a:r>
              <a:rPr>
                <a:ea typeface="Liberation Sans"/>
              </a:rPr>
              <a:t>Persistence of high frequency locations across days</a:t>
            </a:r>
          </a:p>
        </p:txBody>
      </p:sp>
      <p:sp>
        <p:nvSpPr>
          <p:cNvPr id="23" name="TextBox 22"/>
          <p:cNvSpPr txBox="1"/>
          <p:nvPr/>
        </p:nvSpPr>
        <p:spPr>
          <a:xfrm>
            <a:off x="804672" y="7050024"/>
            <a:ext cx="12801600" cy="365760"/>
          </a:xfrm>
          <a:prstGeom prst="rect">
            <a:avLst/>
          </a:prstGeom>
          <a:noFill/>
        </p:spPr>
        <p:txBody>
          <a:bodyPr wrap="square" lIns="9144" rIns="9144" tIns="9144" bIns="9144">
            <a:spAutoFit/>
          </a:bodyPr>
          <a:lstStyle/>
          <a:p>
            <a:pPr>
              <a:lnSpc>
                <a:spcPct val="115000"/>
              </a:lnSpc>
              <a:spcAft>
                <a:spcPts val="700"/>
              </a:spcAft>
              <a:defRPr sz="1900" b="1">
                <a:solidFill>
                  <a:srgbClr val="137D76"/>
                </a:solidFill>
                <a:latin typeface="Liberation Sans"/>
              </a:defRPr>
            </a:pPr>
            <a:r>
              <a:rPr>
                <a:ea typeface="Liberation Sans"/>
              </a:rPr>
              <a:t>Passenger transfer frequency provides the activity weight used in the accessibility assessment.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SPATIAL ACCESSIBILITY</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How far is a toilet from the transfer?</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Access is measured from the actual transfer location to a public toilet that is open at the event time.</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04 / 07</a:t>
            </a:r>
          </a:p>
        </p:txBody>
      </p:sp>
      <p:sp>
        <p:nvSpPr>
          <p:cNvPr id="9" name="Rounded Rectangle 8"/>
          <p:cNvSpPr/>
          <p:nvPr/>
        </p:nvSpPr>
        <p:spPr>
          <a:xfrm>
            <a:off x="731520" y="2578608"/>
            <a:ext cx="5577840" cy="39776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816352"/>
            <a:ext cx="5084064" cy="393192"/>
          </a:xfrm>
          <a:prstGeom prst="rect">
            <a:avLst/>
          </a:prstGeom>
          <a:noFill/>
        </p:spPr>
        <p:txBody>
          <a:bodyPr wrap="square" lIns="9144" rIns="9144" tIns="9144" bIns="9144">
            <a:spAutoFit/>
          </a:bodyPr>
          <a:lstStyle/>
          <a:p>
            <a:pPr>
              <a:lnSpc>
                <a:spcPct val="115000"/>
              </a:lnSpc>
              <a:spcAft>
                <a:spcPts val="700"/>
              </a:spcAft>
              <a:defRPr sz="2100" b="1">
                <a:solidFill>
                  <a:srgbClr val="18343D"/>
                </a:solidFill>
                <a:latin typeface="Liberation Sans"/>
              </a:defRPr>
            </a:pPr>
            <a:r>
              <a:rPr>
                <a:ea typeface="Liberation Sans"/>
              </a:rPr>
              <a:t>Access through the pedestrian network</a:t>
            </a:r>
          </a:p>
        </p:txBody>
      </p:sp>
      <p:cxnSp>
        <p:nvCxnSpPr>
          <p:cNvPr id="11" name="Connector 10"/>
          <p:cNvCxnSpPr/>
          <p:nvPr/>
        </p:nvCxnSpPr>
        <p:spPr>
          <a:xfrm>
            <a:off x="1371600" y="5371551"/>
            <a:ext cx="854964"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578985"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09826"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023567"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226564" y="5371551"/>
            <a:ext cx="955548"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462113"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720111"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58998"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182112" y="5371551"/>
            <a:ext cx="1207008"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488070"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13962"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15714"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389120" y="5371551"/>
            <a:ext cx="1106424"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666914"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65649"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42255" y="5339547"/>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2226564" y="4609033"/>
            <a:ext cx="0" cy="762518"/>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194560" y="5126042"/>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94560" y="4920162"/>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94560" y="4729532"/>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2226564" y="4609033"/>
            <a:ext cx="955548"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2462113"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720111"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58998"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3182112" y="4609033"/>
            <a:ext cx="1207008"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488070"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813962"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115714"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389120" y="4609033"/>
            <a:ext cx="1106424"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4666914"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965649"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242255"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3182112" y="3821917"/>
            <a:ext cx="0" cy="787116"/>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3150108" y="43566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150108" y="4144115"/>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150108" y="39473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3182112" y="3821917"/>
            <a:ext cx="1207008"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488070"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813962"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115714"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4389120" y="3821917"/>
            <a:ext cx="1106424"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4666914"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965649"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242255" y="3789913"/>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flipV="1">
            <a:off x="4389120" y="3821917"/>
            <a:ext cx="0" cy="787116"/>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357116" y="43566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357116" y="4144115"/>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357116" y="39473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flipV="1">
            <a:off x="5495544" y="3821917"/>
            <a:ext cx="0" cy="787116"/>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5463540" y="43566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463540" y="4144115"/>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463540" y="3947336"/>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1371600" y="4609033"/>
            <a:ext cx="854964" cy="0"/>
          </a:xfrm>
          <a:prstGeom prst="line">
            <a:avLst/>
          </a:prstGeom>
          <a:ln w="38100">
            <a:solidFill>
              <a:srgbClr val="BACBC7"/>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578985"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809826"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023567" y="4577029"/>
            <a:ext cx="64008" cy="64008"/>
          </a:xfrm>
          <a:prstGeom prst="ellipse">
            <a:avLst/>
          </a:prstGeom>
          <a:solidFill>
            <a:srgbClr val="8CAA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flipV="1">
            <a:off x="3182112" y="3821917"/>
            <a:ext cx="0" cy="787116"/>
          </a:xfrm>
          <a:prstGeom prst="line">
            <a:avLst/>
          </a:prstGeom>
          <a:ln w="635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89120" y="3821917"/>
            <a:ext cx="0" cy="787116"/>
          </a:xfrm>
          <a:prstGeom prst="line">
            <a:avLst/>
          </a:prstGeom>
          <a:ln w="635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072384" y="4471873"/>
            <a:ext cx="73152" cy="0"/>
          </a:xfrm>
          <a:prstGeom prst="line">
            <a:avLst/>
          </a:prstGeom>
          <a:ln w="254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145536" y="4389577"/>
            <a:ext cx="73152" cy="0"/>
          </a:xfrm>
          <a:prstGeom prst="line">
            <a:avLst/>
          </a:prstGeom>
          <a:ln w="254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218688" y="4307281"/>
            <a:ext cx="73152" cy="0"/>
          </a:xfrm>
          <a:prstGeom prst="line">
            <a:avLst/>
          </a:prstGeom>
          <a:ln w="254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291839" y="4224985"/>
            <a:ext cx="73152" cy="0"/>
          </a:xfrm>
          <a:prstGeom prst="line">
            <a:avLst/>
          </a:prstGeom>
          <a:ln w="25400">
            <a:solidFill>
              <a:srgbClr val="CB6A4B"/>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1106424" y="3520440"/>
            <a:ext cx="2286000" cy="274320"/>
          </a:xfrm>
          <a:prstGeom prst="rect">
            <a:avLst/>
          </a:prstGeom>
          <a:noFill/>
        </p:spPr>
        <p:txBody>
          <a:bodyPr wrap="square" lIns="9144" rIns="9144" tIns="9144" bIns="9144">
            <a:spAutoFit/>
          </a:bodyPr>
          <a:lstStyle/>
          <a:p>
            <a:pPr>
              <a:lnSpc>
                <a:spcPct val="115000"/>
              </a:lnSpc>
              <a:spcAft>
                <a:spcPts val="700"/>
              </a:spcAft>
              <a:defRPr sz="1300" b="1">
                <a:solidFill>
                  <a:srgbClr val="CB6A4B"/>
                </a:solidFill>
                <a:latin typeface="Liberation Sans"/>
              </a:defRPr>
            </a:pPr>
            <a:r>
              <a:rPr>
                <a:ea typeface="Liberation Sans"/>
              </a:rPr>
              <a:t>Slopes and stairs</a:t>
            </a:r>
          </a:p>
        </p:txBody>
      </p:sp>
      <p:sp>
        <p:nvSpPr>
          <p:cNvPr id="74" name="Oval 73"/>
          <p:cNvSpPr/>
          <p:nvPr/>
        </p:nvSpPr>
        <p:spPr>
          <a:xfrm>
            <a:off x="1321308" y="5321259"/>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176272" y="5321259"/>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131820" y="5321259"/>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338828" y="5321259"/>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5445252" y="5321259"/>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176272" y="4558741"/>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131820" y="4558741"/>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338828" y="4558741"/>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445252" y="4558741"/>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131820" y="3771625"/>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338828" y="3771625"/>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445252" y="3771625"/>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321308" y="4558741"/>
            <a:ext cx="100584" cy="100584"/>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5312664" y="5188671"/>
            <a:ext cx="365760" cy="365760"/>
          </a:xfrm>
          <a:prstGeom prst="roundRect">
            <a:avLst>
              <a:gd name="adj" fmla="val 12000"/>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349240" y="5261823"/>
            <a:ext cx="329184" cy="256032"/>
          </a:xfrm>
          <a:prstGeom prst="rect">
            <a:avLst/>
          </a:prstGeom>
          <a:noFill/>
        </p:spPr>
        <p:txBody>
          <a:bodyPr wrap="square" lIns="9144" rIns="9144" tIns="9144" bIns="9144">
            <a:spAutoFit/>
          </a:bodyPr>
          <a:lstStyle/>
          <a:p>
            <a:pPr>
              <a:lnSpc>
                <a:spcPct val="115000"/>
              </a:lnSpc>
              <a:spcAft>
                <a:spcPts val="700"/>
              </a:spcAft>
              <a:defRPr sz="1100" b="1">
                <a:solidFill>
                  <a:srgbClr val="FFFFFF"/>
                </a:solidFill>
                <a:latin typeface="Liberation Sans"/>
              </a:defRPr>
            </a:pPr>
            <a:r>
              <a:rPr>
                <a:ea typeface="Liberation Sans"/>
              </a:rPr>
              <a:t>WC</a:t>
            </a:r>
          </a:p>
        </p:txBody>
      </p:sp>
      <p:sp>
        <p:nvSpPr>
          <p:cNvPr id="89" name="Rounded Rectangle 88"/>
          <p:cNvSpPr/>
          <p:nvPr/>
        </p:nvSpPr>
        <p:spPr>
          <a:xfrm>
            <a:off x="2999232" y="3639037"/>
            <a:ext cx="365760" cy="365760"/>
          </a:xfrm>
          <a:prstGeom prst="roundRect">
            <a:avLst>
              <a:gd name="adj" fmla="val 12000"/>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035808" y="3712189"/>
            <a:ext cx="329184" cy="256032"/>
          </a:xfrm>
          <a:prstGeom prst="rect">
            <a:avLst/>
          </a:prstGeom>
          <a:noFill/>
        </p:spPr>
        <p:txBody>
          <a:bodyPr wrap="square" lIns="9144" rIns="9144" tIns="9144" bIns="9144">
            <a:spAutoFit/>
          </a:bodyPr>
          <a:lstStyle/>
          <a:p>
            <a:pPr>
              <a:lnSpc>
                <a:spcPct val="115000"/>
              </a:lnSpc>
              <a:spcAft>
                <a:spcPts val="700"/>
              </a:spcAft>
              <a:defRPr sz="1100" b="1">
                <a:solidFill>
                  <a:srgbClr val="FFFFFF"/>
                </a:solidFill>
                <a:latin typeface="Liberation Sans"/>
              </a:defRPr>
            </a:pPr>
            <a:r>
              <a:rPr>
                <a:ea typeface="Liberation Sans"/>
              </a:rPr>
              <a:t>WC</a:t>
            </a:r>
          </a:p>
        </p:txBody>
      </p:sp>
      <p:sp>
        <p:nvSpPr>
          <p:cNvPr id="91" name="TextBox 90"/>
          <p:cNvSpPr txBox="1"/>
          <p:nvPr/>
        </p:nvSpPr>
        <p:spPr>
          <a:xfrm>
            <a:off x="969264" y="5843016"/>
            <a:ext cx="5029200" cy="274320"/>
          </a:xfrm>
          <a:prstGeom prst="rect">
            <a:avLst/>
          </a:prstGeom>
          <a:noFill/>
        </p:spPr>
        <p:txBody>
          <a:bodyPr wrap="square" lIns="9144" rIns="9144" tIns="9144" bIns="9144">
            <a:spAutoFit/>
          </a:bodyPr>
          <a:lstStyle/>
          <a:p>
            <a:pPr>
              <a:lnSpc>
                <a:spcPct val="115000"/>
              </a:lnSpc>
              <a:spcAft>
                <a:spcPts val="700"/>
              </a:spcAft>
              <a:defRPr sz="1000" b="0">
                <a:solidFill>
                  <a:srgbClr val="60747A"/>
                </a:solidFill>
                <a:latin typeface="Liberation Sans"/>
              </a:defRPr>
            </a:pPr>
            <a:r>
              <a:rPr>
                <a:ea typeface="Liberation Sans"/>
              </a:rPr>
              <a:t>Illustrative network</a:t>
            </a:r>
          </a:p>
        </p:txBody>
      </p:sp>
      <p:sp>
        <p:nvSpPr>
          <p:cNvPr id="92" name="Rounded Rectangle 91"/>
          <p:cNvSpPr/>
          <p:nvPr/>
        </p:nvSpPr>
        <p:spPr>
          <a:xfrm>
            <a:off x="1024128" y="5989320"/>
            <a:ext cx="4526280" cy="347472"/>
          </a:xfrm>
          <a:prstGeom prst="roundRect">
            <a:avLst>
              <a:gd name="adj" fmla="val 12000"/>
            </a:avLst>
          </a:prstGeom>
          <a:solidFill>
            <a:srgbClr val="E1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33856" y="6030468"/>
            <a:ext cx="4306824" cy="274320"/>
          </a:xfrm>
          <a:prstGeom prst="rect">
            <a:avLst/>
          </a:prstGeom>
          <a:noFill/>
        </p:spPr>
        <p:txBody>
          <a:bodyPr wrap="square" lIns="9144" rIns="9144" tIns="9144" bIns="9144">
            <a:spAutoFit/>
          </a:bodyPr>
          <a:lstStyle/>
          <a:p>
            <a:pPr>
              <a:lnSpc>
                <a:spcPct val="115000"/>
              </a:lnSpc>
              <a:spcAft>
                <a:spcPts val="700"/>
              </a:spcAft>
              <a:defRPr sz="1200" b="1">
                <a:solidFill>
                  <a:srgbClr val="137D76"/>
                </a:solidFill>
                <a:latin typeface="Liberation Sans"/>
              </a:defRPr>
            </a:pPr>
            <a:r>
              <a:rPr>
                <a:ea typeface="Liberation Sans"/>
              </a:rPr>
              <a:t>Stop position → pedestrian route → toilet entrance</a:t>
            </a:r>
          </a:p>
        </p:txBody>
      </p:sp>
      <p:sp>
        <p:nvSpPr>
          <p:cNvPr id="94" name="TextBox 93"/>
          <p:cNvSpPr txBox="1"/>
          <p:nvPr/>
        </p:nvSpPr>
        <p:spPr>
          <a:xfrm>
            <a:off x="6766560" y="2734056"/>
            <a:ext cx="6766560" cy="393192"/>
          </a:xfrm>
          <a:prstGeom prst="rect">
            <a:avLst/>
          </a:prstGeom>
          <a:noFill/>
        </p:spPr>
        <p:txBody>
          <a:bodyPr wrap="square" lIns="9144" rIns="9144" tIns="9144" bIns="9144">
            <a:spAutoFit/>
          </a:bodyPr>
          <a:lstStyle/>
          <a:p>
            <a:pPr>
              <a:lnSpc>
                <a:spcPct val="115000"/>
              </a:lnSpc>
              <a:spcAft>
                <a:spcPts val="700"/>
              </a:spcAft>
              <a:defRPr sz="2300" b="1">
                <a:solidFill>
                  <a:srgbClr val="137D76"/>
                </a:solidFill>
                <a:latin typeface="Liberation Sans"/>
              </a:defRPr>
            </a:pPr>
            <a:r>
              <a:rPr>
                <a:ea typeface="Liberation Sans"/>
              </a:rPr>
              <a:t>Measures</a:t>
            </a:r>
          </a:p>
        </p:txBody>
      </p:sp>
      <p:sp>
        <p:nvSpPr>
          <p:cNvPr id="95" name="TextBox 94"/>
          <p:cNvSpPr txBox="1"/>
          <p:nvPr/>
        </p:nvSpPr>
        <p:spPr>
          <a:xfrm>
            <a:off x="6784848" y="3300984"/>
            <a:ext cx="6611112" cy="1271016"/>
          </a:xfrm>
          <a:prstGeom prst="rect">
            <a:avLst/>
          </a:prstGeom>
          <a:noFill/>
        </p:spPr>
        <p:txBody>
          <a:bodyPr wrap="square" lIns="9144" rIns="9144" tIns="9144" bIns="9144">
            <a:spAutoFit/>
          </a:bodyPr>
          <a:lstStyle/>
          <a:p>
            <a:pPr>
              <a:lnSpc>
                <a:spcPct val="115000"/>
              </a:lnSpc>
              <a:spcAft>
                <a:spcPts val="700"/>
              </a:spcAft>
              <a:defRPr sz="2300" b="0">
                <a:solidFill>
                  <a:srgbClr val="18343D"/>
                </a:solidFill>
                <a:latin typeface="Liberation Sans"/>
              </a:defRPr>
            </a:pPr>
            <a:r>
              <a:rPr>
                <a:ea typeface="Liberation Sans"/>
              </a:rPr>
              <a:t>Distance to the nearest open toilet</a:t>
            </a:r>
          </a:p>
          <a:p>
            <a:pPr>
              <a:lnSpc>
                <a:spcPct val="115000"/>
              </a:lnSpc>
              <a:spcAft>
                <a:spcPts val="700"/>
              </a:spcAft>
              <a:defRPr sz="2300" b="0">
                <a:solidFill>
                  <a:srgbClr val="18343D"/>
                </a:solidFill>
                <a:latin typeface="Liberation Sans"/>
              </a:defRPr>
            </a:pPr>
            <a:r>
              <a:rPr>
                <a:ea typeface="Liberation Sans"/>
              </a:rPr>
              <a:t>Walking time along a feasible route</a:t>
            </a:r>
          </a:p>
          <a:p>
            <a:pPr>
              <a:lnSpc>
                <a:spcPct val="115000"/>
              </a:lnSpc>
              <a:spcAft>
                <a:spcPts val="700"/>
              </a:spcAft>
              <a:defRPr sz="2300" b="0">
                <a:solidFill>
                  <a:srgbClr val="18343D"/>
                </a:solidFill>
                <a:latin typeface="Liberation Sans"/>
              </a:defRPr>
            </a:pPr>
            <a:r>
              <a:rPr>
                <a:ea typeface="Liberation Sans"/>
              </a:rPr>
              <a:t>Access within selected time thresholds</a:t>
            </a:r>
          </a:p>
        </p:txBody>
      </p:sp>
      <p:cxnSp>
        <p:nvCxnSpPr>
          <p:cNvPr id="96" name="Connector 95"/>
          <p:cNvCxnSpPr/>
          <p:nvPr/>
        </p:nvCxnSpPr>
        <p:spPr>
          <a:xfrm>
            <a:off x="6775704" y="4956048"/>
            <a:ext cx="6940296" cy="0"/>
          </a:xfrm>
          <a:prstGeom prst="line">
            <a:avLst/>
          </a:prstGeom>
          <a:ln w="254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766560" y="5221224"/>
            <a:ext cx="6766560" cy="393192"/>
          </a:xfrm>
          <a:prstGeom prst="rect">
            <a:avLst/>
          </a:prstGeom>
          <a:noFill/>
        </p:spPr>
        <p:txBody>
          <a:bodyPr wrap="square" lIns="9144" rIns="9144" tIns="9144" bIns="9144">
            <a:spAutoFit/>
          </a:bodyPr>
          <a:lstStyle/>
          <a:p>
            <a:pPr>
              <a:lnSpc>
                <a:spcPct val="115000"/>
              </a:lnSpc>
              <a:spcAft>
                <a:spcPts val="700"/>
              </a:spcAft>
              <a:defRPr sz="2300" b="1">
                <a:solidFill>
                  <a:srgbClr val="137D76"/>
                </a:solidFill>
                <a:latin typeface="Liberation Sans"/>
              </a:defRPr>
            </a:pPr>
            <a:r>
              <a:rPr>
                <a:ea typeface="Liberation Sans"/>
              </a:rPr>
              <a:t>Spatial conditions</a:t>
            </a:r>
          </a:p>
        </p:txBody>
      </p:sp>
      <p:sp>
        <p:nvSpPr>
          <p:cNvPr id="98" name="TextBox 97"/>
          <p:cNvSpPr txBox="1"/>
          <p:nvPr/>
        </p:nvSpPr>
        <p:spPr>
          <a:xfrm>
            <a:off x="6784848" y="5742432"/>
            <a:ext cx="6611112" cy="786384"/>
          </a:xfrm>
          <a:prstGeom prst="rect">
            <a:avLst/>
          </a:prstGeom>
          <a:noFill/>
        </p:spPr>
        <p:txBody>
          <a:bodyPr wrap="square" lIns="9144" rIns="9144" tIns="9144" bIns="9144">
            <a:spAutoFit/>
          </a:bodyPr>
          <a:lstStyle/>
          <a:p>
            <a:pPr>
              <a:lnSpc>
                <a:spcPct val="115000"/>
              </a:lnSpc>
              <a:spcAft>
                <a:spcPts val="700"/>
              </a:spcAft>
              <a:defRPr sz="2200" b="0">
                <a:solidFill>
                  <a:srgbClr val="18343D"/>
                </a:solidFill>
                <a:latin typeface="Liberation Sans"/>
              </a:defRPr>
            </a:pPr>
            <a:r>
              <a:rPr>
                <a:ea typeface="Liberation Sans"/>
              </a:rPr>
              <a:t>Slopes and stairs</a:t>
            </a:r>
          </a:p>
          <a:p>
            <a:pPr>
              <a:lnSpc>
                <a:spcPct val="115000"/>
              </a:lnSpc>
              <a:spcAft>
                <a:spcPts val="700"/>
              </a:spcAft>
              <a:defRPr sz="2200" b="0">
                <a:solidFill>
                  <a:srgbClr val="18343D"/>
                </a:solidFill>
                <a:latin typeface="Liberation Sans"/>
              </a:defRPr>
            </a:pPr>
            <a:r>
              <a:rPr>
                <a:ea typeface="Liberation Sans"/>
              </a:rPr>
              <a:t>Road crossings and vertical connections</a:t>
            </a:r>
          </a:p>
        </p:txBody>
      </p:sp>
      <p:sp>
        <p:nvSpPr>
          <p:cNvPr id="99" name="TextBox 98"/>
          <p:cNvSpPr txBox="1"/>
          <p:nvPr/>
        </p:nvSpPr>
        <p:spPr>
          <a:xfrm>
            <a:off x="804672" y="7050024"/>
            <a:ext cx="12801600" cy="365760"/>
          </a:xfrm>
          <a:prstGeom prst="rect">
            <a:avLst/>
          </a:prstGeom>
          <a:noFill/>
        </p:spPr>
        <p:txBody>
          <a:bodyPr wrap="square" lIns="9144" rIns="9144" tIns="9144" bIns="9144">
            <a:spAutoFit/>
          </a:bodyPr>
          <a:lstStyle/>
          <a:p>
            <a:pPr>
              <a:lnSpc>
                <a:spcPct val="115000"/>
              </a:lnSpc>
              <a:spcAft>
                <a:spcPts val="700"/>
              </a:spcAft>
              <a:defRPr sz="2000" b="1">
                <a:solidFill>
                  <a:srgbClr val="137D76"/>
                </a:solidFill>
                <a:latin typeface="Liberation Sans"/>
              </a:defRPr>
            </a:pPr>
            <a:r>
              <a:rPr>
                <a:ea typeface="Liberation Sans"/>
              </a:rPr>
              <a:t>Stop groups summarize activity. Specific stop positions determine walking access.</a:t>
            </a:r>
          </a:p>
        </p:txBody>
      </p:sp>
      <p:sp>
        <p:nvSpPr>
          <p:cNvPr id="100" name="TextBox 99"/>
          <p:cNvSpPr txBox="1"/>
          <p:nvPr/>
        </p:nvSpPr>
        <p:spPr>
          <a:xfrm>
            <a:off x="768096" y="7488936"/>
            <a:ext cx="1271016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Sun et al. (2021)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TRANSFER CONTEXT</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What does a toilet visit add to the transfer?</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Paired alighting and boarding locations allow access to be assessed within the transfer journey.</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05 / 07</a:t>
            </a:r>
          </a:p>
        </p:txBody>
      </p:sp>
      <p:sp>
        <p:nvSpPr>
          <p:cNvPr id="9" name="Rounded Rectangle 8"/>
          <p:cNvSpPr/>
          <p:nvPr/>
        </p:nvSpPr>
        <p:spPr>
          <a:xfrm>
            <a:off x="731520" y="2560320"/>
            <a:ext cx="13167360" cy="2514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64791" y="4069080"/>
            <a:ext cx="219456" cy="219456"/>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 y="4416552"/>
            <a:ext cx="2249424" cy="365760"/>
          </a:xfrm>
          <a:prstGeom prst="rect">
            <a:avLst/>
          </a:prstGeom>
          <a:noFill/>
        </p:spPr>
        <p:txBody>
          <a:bodyPr wrap="square" lIns="9144" rIns="9144" tIns="9144" bIns="9144">
            <a:spAutoFit/>
          </a:bodyPr>
          <a:lstStyle/>
          <a:p>
            <a:pPr algn="ctr">
              <a:lnSpc>
                <a:spcPct val="115000"/>
              </a:lnSpc>
              <a:spcAft>
                <a:spcPts val="700"/>
              </a:spcAft>
              <a:defRPr sz="2000" b="1">
                <a:solidFill>
                  <a:srgbClr val="137D76"/>
                </a:solidFill>
                <a:latin typeface="Liberation Sans"/>
              </a:defRPr>
            </a:pPr>
            <a:r>
              <a:rPr>
                <a:ea typeface="Liberation Sans"/>
              </a:rPr>
              <a:t>Alighting stop</a:t>
            </a:r>
          </a:p>
        </p:txBody>
      </p:sp>
      <p:sp>
        <p:nvSpPr>
          <p:cNvPr id="12" name="Oval 11"/>
          <p:cNvSpPr/>
          <p:nvPr/>
        </p:nvSpPr>
        <p:spPr>
          <a:xfrm>
            <a:off x="12554712" y="4069080"/>
            <a:ext cx="219456" cy="219456"/>
          </a:xfrm>
          <a:prstGeom prst="ellipse">
            <a:avLst/>
          </a:prstGeom>
          <a:solidFill>
            <a:srgbClr val="137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39728" y="4416552"/>
            <a:ext cx="2249424" cy="365760"/>
          </a:xfrm>
          <a:prstGeom prst="rect">
            <a:avLst/>
          </a:prstGeom>
          <a:noFill/>
        </p:spPr>
        <p:txBody>
          <a:bodyPr wrap="square" lIns="9144" rIns="9144" tIns="9144" bIns="9144">
            <a:spAutoFit/>
          </a:bodyPr>
          <a:lstStyle/>
          <a:p>
            <a:pPr algn="ctr">
              <a:lnSpc>
                <a:spcPct val="115000"/>
              </a:lnSpc>
              <a:spcAft>
                <a:spcPts val="700"/>
              </a:spcAft>
              <a:defRPr sz="2000" b="1">
                <a:solidFill>
                  <a:srgbClr val="137D76"/>
                </a:solidFill>
                <a:latin typeface="Liberation Sans"/>
              </a:defRPr>
            </a:pPr>
            <a:r>
              <a:rPr>
                <a:ea typeface="Liberation Sans"/>
              </a:rPr>
              <a:t>Boarding stop</a:t>
            </a:r>
          </a:p>
        </p:txBody>
      </p:sp>
      <p:sp>
        <p:nvSpPr>
          <p:cNvPr id="14" name="Oval 13"/>
          <p:cNvSpPr/>
          <p:nvPr/>
        </p:nvSpPr>
        <p:spPr>
          <a:xfrm>
            <a:off x="7205472" y="2999232"/>
            <a:ext cx="219456" cy="219456"/>
          </a:xfrm>
          <a:prstGeom prst="ellipse">
            <a:avLst/>
          </a:prstGeom>
          <a:solidFill>
            <a:srgbClr val="CB6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8" y="3346704"/>
            <a:ext cx="2249424" cy="365760"/>
          </a:xfrm>
          <a:prstGeom prst="rect">
            <a:avLst/>
          </a:prstGeom>
          <a:noFill/>
        </p:spPr>
        <p:txBody>
          <a:bodyPr wrap="square" lIns="9144" rIns="9144" tIns="9144" bIns="9144">
            <a:spAutoFit/>
          </a:bodyPr>
          <a:lstStyle/>
          <a:p>
            <a:pPr algn="ctr">
              <a:lnSpc>
                <a:spcPct val="115000"/>
              </a:lnSpc>
              <a:spcAft>
                <a:spcPts val="700"/>
              </a:spcAft>
              <a:defRPr sz="2000" b="1">
                <a:solidFill>
                  <a:srgbClr val="CB6A4B"/>
                </a:solidFill>
                <a:latin typeface="Liberation Sans"/>
              </a:defRPr>
            </a:pPr>
            <a:r>
              <a:rPr>
                <a:ea typeface="Liberation Sans"/>
              </a:rPr>
              <a:t>Toilet</a:t>
            </a:r>
          </a:p>
        </p:txBody>
      </p:sp>
      <p:cxnSp>
        <p:nvCxnSpPr>
          <p:cNvPr id="16" name="Connector 15"/>
          <p:cNvCxnSpPr/>
          <p:nvPr/>
        </p:nvCxnSpPr>
        <p:spPr>
          <a:xfrm>
            <a:off x="2029968" y="4178808"/>
            <a:ext cx="10469880" cy="0"/>
          </a:xfrm>
          <a:prstGeom prst="line">
            <a:avLst/>
          </a:prstGeom>
          <a:ln w="38100">
            <a:solidFill>
              <a:srgbClr val="137D7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11680" y="3136392"/>
            <a:ext cx="5120640" cy="914399"/>
          </a:xfrm>
          <a:prstGeom prst="line">
            <a:avLst/>
          </a:prstGeom>
          <a:ln w="38100">
            <a:solidFill>
              <a:srgbClr val="CB6A4B"/>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98079" y="3136392"/>
            <a:ext cx="5020057" cy="914399"/>
          </a:xfrm>
          <a:prstGeom prst="line">
            <a:avLst/>
          </a:prstGeom>
          <a:ln w="38100">
            <a:solidFill>
              <a:srgbClr val="CB6A4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586984" y="4379976"/>
            <a:ext cx="3456432" cy="365760"/>
          </a:xfrm>
          <a:prstGeom prst="rect">
            <a:avLst/>
          </a:prstGeom>
          <a:noFill/>
        </p:spPr>
        <p:txBody>
          <a:bodyPr wrap="square" lIns="9144" rIns="9144" tIns="9144" bIns="9144">
            <a:spAutoFit/>
          </a:bodyPr>
          <a:lstStyle/>
          <a:p>
            <a:pPr algn="ctr">
              <a:lnSpc>
                <a:spcPct val="115000"/>
              </a:lnSpc>
              <a:spcAft>
                <a:spcPts val="700"/>
              </a:spcAft>
              <a:defRPr sz="1800" b="0">
                <a:solidFill>
                  <a:srgbClr val="60747A"/>
                </a:solidFill>
                <a:latin typeface="Liberation Sans"/>
              </a:defRPr>
            </a:pPr>
            <a:r>
              <a:rPr>
                <a:ea typeface="Liberation Sans"/>
              </a:rPr>
              <a:t>Direct transfer route</a:t>
            </a:r>
          </a:p>
        </p:txBody>
      </p:sp>
      <p:sp>
        <p:nvSpPr>
          <p:cNvPr id="20" name="TextBox 19"/>
          <p:cNvSpPr txBox="1"/>
          <p:nvPr/>
        </p:nvSpPr>
        <p:spPr>
          <a:xfrm>
            <a:off x="832104" y="5504688"/>
            <a:ext cx="3108960" cy="411480"/>
          </a:xfrm>
          <a:prstGeom prst="rect">
            <a:avLst/>
          </a:prstGeom>
          <a:noFill/>
        </p:spPr>
        <p:txBody>
          <a:bodyPr wrap="square" lIns="9144" rIns="9144" tIns="9144" bIns="9144">
            <a:spAutoFit/>
          </a:bodyPr>
          <a:lstStyle/>
          <a:p>
            <a:pPr>
              <a:lnSpc>
                <a:spcPct val="115000"/>
              </a:lnSpc>
              <a:spcAft>
                <a:spcPts val="700"/>
              </a:spcAft>
              <a:defRPr sz="2300" b="1">
                <a:solidFill>
                  <a:srgbClr val="137D76"/>
                </a:solidFill>
                <a:latin typeface="Liberation Sans"/>
              </a:defRPr>
            </a:pPr>
            <a:r>
              <a:rPr>
                <a:ea typeface="Liberation Sans"/>
              </a:rPr>
              <a:t>Measures</a:t>
            </a:r>
          </a:p>
        </p:txBody>
      </p:sp>
      <p:sp>
        <p:nvSpPr>
          <p:cNvPr id="21" name="TextBox 20"/>
          <p:cNvSpPr txBox="1"/>
          <p:nvPr/>
        </p:nvSpPr>
        <p:spPr>
          <a:xfrm>
            <a:off x="4050791" y="5449824"/>
            <a:ext cx="9537192" cy="1097280"/>
          </a:xfrm>
          <a:prstGeom prst="rect">
            <a:avLst/>
          </a:prstGeom>
          <a:noFill/>
        </p:spPr>
        <p:txBody>
          <a:bodyPr wrap="square" lIns="9144" rIns="9144" tIns="9144" bIns="9144">
            <a:spAutoFit/>
          </a:bodyPr>
          <a:lstStyle/>
          <a:p>
            <a:pPr>
              <a:lnSpc>
                <a:spcPct val="115000"/>
              </a:lnSpc>
              <a:spcAft>
                <a:spcPts val="700"/>
              </a:spcAft>
              <a:defRPr sz="2300" b="0">
                <a:solidFill>
                  <a:srgbClr val="18343D"/>
                </a:solidFill>
                <a:latin typeface="Liberation Sans"/>
              </a:defRPr>
            </a:pPr>
            <a:r>
              <a:rPr>
                <a:ea typeface="Liberation Sans"/>
              </a:rPr>
              <a:t>Additional walking distance or time via a toilet</a:t>
            </a:r>
          </a:p>
          <a:p>
            <a:pPr>
              <a:lnSpc>
                <a:spcPct val="115000"/>
              </a:lnSpc>
              <a:spcAft>
                <a:spcPts val="700"/>
              </a:spcAft>
              <a:defRPr sz="2300" b="0">
                <a:solidFill>
                  <a:srgbClr val="18343D"/>
                </a:solidFill>
                <a:latin typeface="Liberation Sans"/>
              </a:defRPr>
            </a:pPr>
            <a:r>
              <a:rPr>
                <a:ea typeface="Liberation Sans"/>
              </a:rPr>
              <a:t>Differences between transfer directions</a:t>
            </a:r>
          </a:p>
          <a:p>
            <a:pPr>
              <a:lnSpc>
                <a:spcPct val="115000"/>
              </a:lnSpc>
              <a:spcAft>
                <a:spcPts val="700"/>
              </a:spcAft>
              <a:defRPr sz="2300" b="0">
                <a:solidFill>
                  <a:srgbClr val="18343D"/>
                </a:solidFill>
                <a:latin typeface="Liberation Sans"/>
              </a:defRPr>
            </a:pPr>
            <a:r>
              <a:rPr>
                <a:ea typeface="Liberation Sans"/>
              </a:rPr>
              <a:t>Variation with toilet opening hours</a:t>
            </a:r>
          </a:p>
        </p:txBody>
      </p:sp>
      <p:sp>
        <p:nvSpPr>
          <p:cNvPr id="22" name="TextBox 21"/>
          <p:cNvSpPr txBox="1"/>
          <p:nvPr/>
        </p:nvSpPr>
        <p:spPr>
          <a:xfrm>
            <a:off x="832104" y="6958584"/>
            <a:ext cx="12801600" cy="493776"/>
          </a:xfrm>
          <a:prstGeom prst="rect">
            <a:avLst/>
          </a:prstGeom>
          <a:noFill/>
        </p:spPr>
        <p:txBody>
          <a:bodyPr wrap="square" lIns="9144" rIns="9144" tIns="9144" bIns="9144">
            <a:spAutoFit/>
          </a:bodyPr>
          <a:lstStyle/>
          <a:p>
            <a:pPr>
              <a:lnSpc>
                <a:spcPct val="115000"/>
              </a:lnSpc>
              <a:spcAft>
                <a:spcPts val="700"/>
              </a:spcAft>
              <a:defRPr sz="1900" b="0">
                <a:solidFill>
                  <a:srgbClr val="60747A"/>
                </a:solidFill>
                <a:latin typeface="Liberation Sans"/>
              </a:defRPr>
            </a:pPr>
            <a:r>
              <a:rPr>
                <a:ea typeface="Liberation Sans"/>
              </a:rPr>
              <a:t>With aggregate stop counts only, the assessment uses access from the transfer location.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TEMPORAL SERVICE GAPS</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Is toilet access available when transfers peak?</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Transfer activity and toilet availability are aligned within the same time intervals.</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06 / 07</a:t>
            </a:r>
          </a:p>
        </p:txBody>
      </p:sp>
      <p:sp>
        <p:nvSpPr>
          <p:cNvPr id="9" name="Rounded Rectangle 8"/>
          <p:cNvSpPr/>
          <p:nvPr/>
        </p:nvSpPr>
        <p:spPr>
          <a:xfrm>
            <a:off x="731520" y="2514600"/>
            <a:ext cx="13167360" cy="576072"/>
          </a:xfrm>
          <a:prstGeom prst="roundRect">
            <a:avLst>
              <a:gd name="adj" fmla="val 12000"/>
            </a:avLst>
          </a:prstGeom>
          <a:solidFill>
            <a:srgbClr val="183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660904"/>
            <a:ext cx="3108960" cy="310896"/>
          </a:xfrm>
          <a:prstGeom prst="rect">
            <a:avLst/>
          </a:prstGeom>
          <a:noFill/>
        </p:spPr>
        <p:txBody>
          <a:bodyPr wrap="square" lIns="9144" rIns="9144" tIns="9144" bIns="9144">
            <a:spAutoFit/>
          </a:bodyPr>
          <a:lstStyle/>
          <a:p>
            <a:pPr>
              <a:lnSpc>
                <a:spcPct val="115000"/>
              </a:lnSpc>
              <a:spcAft>
                <a:spcPts val="700"/>
              </a:spcAft>
              <a:defRPr sz="1900" b="1">
                <a:solidFill>
                  <a:srgbClr val="FFFFFF"/>
                </a:solidFill>
                <a:latin typeface="Liberation Sans"/>
              </a:defRPr>
            </a:pPr>
            <a:r>
              <a:rPr>
                <a:ea typeface="Liberation Sans"/>
              </a:rPr>
              <a:t>Measure</a:t>
            </a:r>
          </a:p>
        </p:txBody>
      </p:sp>
      <p:sp>
        <p:nvSpPr>
          <p:cNvPr id="11" name="TextBox 10"/>
          <p:cNvSpPr txBox="1"/>
          <p:nvPr/>
        </p:nvSpPr>
        <p:spPr>
          <a:xfrm>
            <a:off x="4187952" y="2660904"/>
            <a:ext cx="6400800" cy="310896"/>
          </a:xfrm>
          <a:prstGeom prst="rect">
            <a:avLst/>
          </a:prstGeom>
          <a:noFill/>
        </p:spPr>
        <p:txBody>
          <a:bodyPr wrap="square" lIns="9144" rIns="9144" tIns="9144" bIns="9144">
            <a:spAutoFit/>
          </a:bodyPr>
          <a:lstStyle/>
          <a:p>
            <a:pPr>
              <a:lnSpc>
                <a:spcPct val="115000"/>
              </a:lnSpc>
              <a:spcAft>
                <a:spcPts val="700"/>
              </a:spcAft>
              <a:defRPr sz="1900" b="1">
                <a:solidFill>
                  <a:srgbClr val="FFFFFF"/>
                </a:solidFill>
                <a:latin typeface="Liberation Sans"/>
              </a:defRPr>
            </a:pPr>
            <a:r>
              <a:rPr>
                <a:ea typeface="Liberation Sans"/>
              </a:rPr>
              <a:t>Interpretation</a:t>
            </a:r>
          </a:p>
        </p:txBody>
      </p:sp>
      <p:sp>
        <p:nvSpPr>
          <p:cNvPr id="12" name="TextBox 11"/>
          <p:cNvSpPr txBox="1"/>
          <p:nvPr/>
        </p:nvSpPr>
        <p:spPr>
          <a:xfrm>
            <a:off x="10972800" y="2660904"/>
            <a:ext cx="2606040" cy="310896"/>
          </a:xfrm>
          <a:prstGeom prst="rect">
            <a:avLst/>
          </a:prstGeom>
          <a:noFill/>
        </p:spPr>
        <p:txBody>
          <a:bodyPr wrap="square" lIns="9144" rIns="9144" tIns="9144" bIns="9144">
            <a:spAutoFit/>
          </a:bodyPr>
          <a:lstStyle/>
          <a:p>
            <a:pPr>
              <a:lnSpc>
                <a:spcPct val="115000"/>
              </a:lnSpc>
              <a:spcAft>
                <a:spcPts val="700"/>
              </a:spcAft>
              <a:defRPr sz="1900" b="1">
                <a:solidFill>
                  <a:srgbClr val="FFFFFF"/>
                </a:solidFill>
                <a:latin typeface="Liberation Sans"/>
              </a:defRPr>
            </a:pPr>
            <a:r>
              <a:rPr>
                <a:ea typeface="Liberation Sans"/>
              </a:rPr>
              <a:t>Comparison</a:t>
            </a:r>
          </a:p>
        </p:txBody>
      </p:sp>
      <p:sp>
        <p:nvSpPr>
          <p:cNvPr id="13" name="Rectangle 12"/>
          <p:cNvSpPr/>
          <p:nvPr/>
        </p:nvSpPr>
        <p:spPr>
          <a:xfrm>
            <a:off x="731520" y="3227832"/>
            <a:ext cx="13167360" cy="694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410712"/>
            <a:ext cx="3108960" cy="338328"/>
          </a:xfrm>
          <a:prstGeom prst="rect">
            <a:avLst/>
          </a:prstGeom>
          <a:noFill/>
        </p:spPr>
        <p:txBody>
          <a:bodyPr wrap="square" lIns="9144" rIns="9144" tIns="9144" bIns="9144">
            <a:spAutoFit/>
          </a:bodyPr>
          <a:lstStyle/>
          <a:p>
            <a:pPr>
              <a:lnSpc>
                <a:spcPct val="115000"/>
              </a:lnSpc>
              <a:spcAft>
                <a:spcPts val="700"/>
              </a:spcAft>
              <a:defRPr sz="1900" b="1">
                <a:solidFill>
                  <a:srgbClr val="18343D"/>
                </a:solidFill>
                <a:latin typeface="Liberation Sans"/>
              </a:defRPr>
            </a:pPr>
            <a:r>
              <a:rPr>
                <a:ea typeface="Liberation Sans"/>
              </a:rPr>
              <a:t>Event coverage</a:t>
            </a:r>
          </a:p>
        </p:txBody>
      </p:sp>
      <p:sp>
        <p:nvSpPr>
          <p:cNvPr id="15" name="TextBox 14"/>
          <p:cNvSpPr txBox="1"/>
          <p:nvPr/>
        </p:nvSpPr>
        <p:spPr>
          <a:xfrm>
            <a:off x="4187952" y="3410712"/>
            <a:ext cx="6565392" cy="338328"/>
          </a:xfrm>
          <a:prstGeom prst="rect">
            <a:avLst/>
          </a:prstGeom>
          <a:noFill/>
        </p:spPr>
        <p:txBody>
          <a:bodyPr wrap="square" lIns="9144" rIns="9144" tIns="9144" bIns="9144">
            <a:spAutoFit/>
          </a:bodyPr>
          <a:lstStyle/>
          <a:p>
            <a:pPr>
              <a:lnSpc>
                <a:spcPct val="115000"/>
              </a:lnSpc>
              <a:spcAft>
                <a:spcPts val="700"/>
              </a:spcAft>
              <a:defRPr sz="1900" b="0">
                <a:solidFill>
                  <a:srgbClr val="18343D"/>
                </a:solidFill>
                <a:latin typeface="Liberation Sans"/>
              </a:defRPr>
            </a:pPr>
            <a:r>
              <a:rPr>
                <a:ea typeface="Liberation Sans"/>
              </a:rPr>
              <a:t>Share of transfers within the access threshold</a:t>
            </a:r>
          </a:p>
        </p:txBody>
      </p:sp>
      <p:sp>
        <p:nvSpPr>
          <p:cNvPr id="16" name="TextBox 15"/>
          <p:cNvSpPr txBox="1"/>
          <p:nvPr/>
        </p:nvSpPr>
        <p:spPr>
          <a:xfrm>
            <a:off x="10972800" y="3410712"/>
            <a:ext cx="2697480" cy="338328"/>
          </a:xfrm>
          <a:prstGeom prst="rect">
            <a:avLst/>
          </a:prstGeom>
          <a:noFill/>
        </p:spPr>
        <p:txBody>
          <a:bodyPr wrap="square" lIns="9144" rIns="9144" tIns="9144" bIns="9144">
            <a:spAutoFit/>
          </a:bodyPr>
          <a:lstStyle/>
          <a:p>
            <a:pPr>
              <a:lnSpc>
                <a:spcPct val="115000"/>
              </a:lnSpc>
              <a:spcAft>
                <a:spcPts val="700"/>
              </a:spcAft>
              <a:defRPr sz="1800" b="0">
                <a:solidFill>
                  <a:srgbClr val="60747A"/>
                </a:solidFill>
                <a:latin typeface="Liberation Sans"/>
              </a:defRPr>
            </a:pPr>
            <a:r>
              <a:rPr>
                <a:ea typeface="Liberation Sans"/>
              </a:rPr>
              <a:t>Across hours</a:t>
            </a:r>
          </a:p>
        </p:txBody>
      </p:sp>
      <p:sp>
        <p:nvSpPr>
          <p:cNvPr id="17" name="Rectangle 16"/>
          <p:cNvSpPr/>
          <p:nvPr/>
        </p:nvSpPr>
        <p:spPr>
          <a:xfrm>
            <a:off x="731520" y="4005072"/>
            <a:ext cx="13167360" cy="694944"/>
          </a:xfrm>
          <a:prstGeom prst="rect">
            <a:avLst/>
          </a:prstGeom>
          <a:solidFill>
            <a:srgbClr val="E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187952"/>
            <a:ext cx="3108960" cy="338328"/>
          </a:xfrm>
          <a:prstGeom prst="rect">
            <a:avLst/>
          </a:prstGeom>
          <a:noFill/>
        </p:spPr>
        <p:txBody>
          <a:bodyPr wrap="square" lIns="9144" rIns="9144" tIns="9144" bIns="9144">
            <a:spAutoFit/>
          </a:bodyPr>
          <a:lstStyle/>
          <a:p>
            <a:pPr>
              <a:lnSpc>
                <a:spcPct val="115000"/>
              </a:lnSpc>
              <a:spcAft>
                <a:spcPts val="700"/>
              </a:spcAft>
              <a:defRPr sz="1900" b="1">
                <a:solidFill>
                  <a:srgbClr val="18343D"/>
                </a:solidFill>
                <a:latin typeface="Liberation Sans"/>
              </a:defRPr>
            </a:pPr>
            <a:r>
              <a:rPr>
                <a:ea typeface="Liberation Sans"/>
              </a:rPr>
              <a:t>Uncovered events</a:t>
            </a:r>
          </a:p>
        </p:txBody>
      </p:sp>
      <p:sp>
        <p:nvSpPr>
          <p:cNvPr id="19" name="TextBox 18"/>
          <p:cNvSpPr txBox="1"/>
          <p:nvPr/>
        </p:nvSpPr>
        <p:spPr>
          <a:xfrm>
            <a:off x="4187952" y="4187952"/>
            <a:ext cx="6565392" cy="338328"/>
          </a:xfrm>
          <a:prstGeom prst="rect">
            <a:avLst/>
          </a:prstGeom>
          <a:noFill/>
        </p:spPr>
        <p:txBody>
          <a:bodyPr wrap="square" lIns="9144" rIns="9144" tIns="9144" bIns="9144">
            <a:spAutoFit/>
          </a:bodyPr>
          <a:lstStyle/>
          <a:p>
            <a:pPr>
              <a:lnSpc>
                <a:spcPct val="115000"/>
              </a:lnSpc>
              <a:spcAft>
                <a:spcPts val="700"/>
              </a:spcAft>
              <a:defRPr sz="1900" b="0">
                <a:solidFill>
                  <a:srgbClr val="18343D"/>
                </a:solidFill>
                <a:latin typeface="Liberation Sans"/>
              </a:defRPr>
            </a:pPr>
            <a:r>
              <a:rPr>
                <a:ea typeface="Liberation Sans"/>
              </a:rPr>
              <a:t>Transfers at locations beyond the threshold</a:t>
            </a:r>
          </a:p>
        </p:txBody>
      </p:sp>
      <p:sp>
        <p:nvSpPr>
          <p:cNvPr id="20" name="TextBox 19"/>
          <p:cNvSpPr txBox="1"/>
          <p:nvPr/>
        </p:nvSpPr>
        <p:spPr>
          <a:xfrm>
            <a:off x="10972800" y="4187952"/>
            <a:ext cx="2697480" cy="338328"/>
          </a:xfrm>
          <a:prstGeom prst="rect">
            <a:avLst/>
          </a:prstGeom>
          <a:noFill/>
        </p:spPr>
        <p:txBody>
          <a:bodyPr wrap="square" lIns="9144" rIns="9144" tIns="9144" bIns="9144">
            <a:spAutoFit/>
          </a:bodyPr>
          <a:lstStyle/>
          <a:p>
            <a:pPr>
              <a:lnSpc>
                <a:spcPct val="115000"/>
              </a:lnSpc>
              <a:spcAft>
                <a:spcPts val="700"/>
              </a:spcAft>
              <a:defRPr sz="1800" b="0">
                <a:solidFill>
                  <a:srgbClr val="60747A"/>
                </a:solidFill>
                <a:latin typeface="Liberation Sans"/>
              </a:defRPr>
            </a:pPr>
            <a:r>
              <a:rPr>
                <a:ea typeface="Liberation Sans"/>
              </a:rPr>
              <a:t>Across locations</a:t>
            </a:r>
          </a:p>
        </p:txBody>
      </p:sp>
      <p:sp>
        <p:nvSpPr>
          <p:cNvPr id="21" name="Rectangle 20"/>
          <p:cNvSpPr/>
          <p:nvPr/>
        </p:nvSpPr>
        <p:spPr>
          <a:xfrm>
            <a:off x="731520" y="4782312"/>
            <a:ext cx="13167360" cy="694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4965192"/>
            <a:ext cx="3108960" cy="338328"/>
          </a:xfrm>
          <a:prstGeom prst="rect">
            <a:avLst/>
          </a:prstGeom>
          <a:noFill/>
        </p:spPr>
        <p:txBody>
          <a:bodyPr wrap="square" lIns="9144" rIns="9144" tIns="9144" bIns="9144">
            <a:spAutoFit/>
          </a:bodyPr>
          <a:lstStyle/>
          <a:p>
            <a:pPr>
              <a:lnSpc>
                <a:spcPct val="115000"/>
              </a:lnSpc>
              <a:spcAft>
                <a:spcPts val="700"/>
              </a:spcAft>
              <a:defRPr sz="1900" b="1">
                <a:solidFill>
                  <a:srgbClr val="18343D"/>
                </a:solidFill>
                <a:latin typeface="Liberation Sans"/>
              </a:defRPr>
            </a:pPr>
            <a:r>
              <a:rPr>
                <a:ea typeface="Liberation Sans"/>
              </a:rPr>
              <a:t>Peak service gap</a:t>
            </a:r>
          </a:p>
        </p:txBody>
      </p:sp>
      <p:sp>
        <p:nvSpPr>
          <p:cNvPr id="23" name="TextBox 22"/>
          <p:cNvSpPr txBox="1"/>
          <p:nvPr/>
        </p:nvSpPr>
        <p:spPr>
          <a:xfrm>
            <a:off x="4187952" y="4965192"/>
            <a:ext cx="6565392" cy="338328"/>
          </a:xfrm>
          <a:prstGeom prst="rect">
            <a:avLst/>
          </a:prstGeom>
          <a:noFill/>
        </p:spPr>
        <p:txBody>
          <a:bodyPr wrap="square" lIns="9144" rIns="9144" tIns="9144" bIns="9144">
            <a:spAutoFit/>
          </a:bodyPr>
          <a:lstStyle/>
          <a:p>
            <a:pPr>
              <a:lnSpc>
                <a:spcPct val="115000"/>
              </a:lnSpc>
              <a:spcAft>
                <a:spcPts val="700"/>
              </a:spcAft>
              <a:defRPr sz="1900" b="0">
                <a:solidFill>
                  <a:srgbClr val="18343D"/>
                </a:solidFill>
                <a:latin typeface="Liberation Sans"/>
              </a:defRPr>
            </a:pPr>
            <a:r>
              <a:rPr>
                <a:ea typeface="Liberation Sans"/>
              </a:rPr>
              <a:t>Access during periods of concentrated transfers</a:t>
            </a:r>
          </a:p>
        </p:txBody>
      </p:sp>
      <p:sp>
        <p:nvSpPr>
          <p:cNvPr id="24" name="TextBox 23"/>
          <p:cNvSpPr txBox="1"/>
          <p:nvPr/>
        </p:nvSpPr>
        <p:spPr>
          <a:xfrm>
            <a:off x="10972800" y="4965192"/>
            <a:ext cx="2697480" cy="338328"/>
          </a:xfrm>
          <a:prstGeom prst="rect">
            <a:avLst/>
          </a:prstGeom>
          <a:noFill/>
        </p:spPr>
        <p:txBody>
          <a:bodyPr wrap="square" lIns="9144" rIns="9144" tIns="9144" bIns="9144">
            <a:spAutoFit/>
          </a:bodyPr>
          <a:lstStyle/>
          <a:p>
            <a:pPr>
              <a:lnSpc>
                <a:spcPct val="115000"/>
              </a:lnSpc>
              <a:spcAft>
                <a:spcPts val="700"/>
              </a:spcAft>
              <a:defRPr sz="1800" b="0">
                <a:solidFill>
                  <a:srgbClr val="60747A"/>
                </a:solidFill>
                <a:latin typeface="Liberation Sans"/>
              </a:defRPr>
            </a:pPr>
            <a:r>
              <a:rPr>
                <a:ea typeface="Liberation Sans"/>
              </a:rPr>
              <a:t>Peak and off peak</a:t>
            </a:r>
          </a:p>
        </p:txBody>
      </p:sp>
      <p:sp>
        <p:nvSpPr>
          <p:cNvPr id="25" name="Rectangle 24"/>
          <p:cNvSpPr/>
          <p:nvPr/>
        </p:nvSpPr>
        <p:spPr>
          <a:xfrm>
            <a:off x="731520" y="5559552"/>
            <a:ext cx="13167360" cy="694944"/>
          </a:xfrm>
          <a:prstGeom prst="rect">
            <a:avLst/>
          </a:prstGeom>
          <a:solidFill>
            <a:srgbClr val="E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742432"/>
            <a:ext cx="3108960" cy="338328"/>
          </a:xfrm>
          <a:prstGeom prst="rect">
            <a:avLst/>
          </a:prstGeom>
          <a:noFill/>
        </p:spPr>
        <p:txBody>
          <a:bodyPr wrap="square" lIns="9144" rIns="9144" tIns="9144" bIns="9144">
            <a:spAutoFit/>
          </a:bodyPr>
          <a:lstStyle/>
          <a:p>
            <a:pPr>
              <a:lnSpc>
                <a:spcPct val="115000"/>
              </a:lnSpc>
              <a:spcAft>
                <a:spcPts val="700"/>
              </a:spcAft>
              <a:defRPr sz="1900" b="1">
                <a:solidFill>
                  <a:srgbClr val="18343D"/>
                </a:solidFill>
                <a:latin typeface="Liberation Sans"/>
              </a:defRPr>
            </a:pPr>
            <a:r>
              <a:rPr>
                <a:ea typeface="Liberation Sans"/>
              </a:rPr>
              <a:t>Opening alignment</a:t>
            </a:r>
          </a:p>
        </p:txBody>
      </p:sp>
      <p:sp>
        <p:nvSpPr>
          <p:cNvPr id="27" name="TextBox 26"/>
          <p:cNvSpPr txBox="1"/>
          <p:nvPr/>
        </p:nvSpPr>
        <p:spPr>
          <a:xfrm>
            <a:off x="4187952" y="5742432"/>
            <a:ext cx="6565392" cy="338328"/>
          </a:xfrm>
          <a:prstGeom prst="rect">
            <a:avLst/>
          </a:prstGeom>
          <a:noFill/>
        </p:spPr>
        <p:txBody>
          <a:bodyPr wrap="square" lIns="9144" rIns="9144" tIns="9144" bIns="9144">
            <a:spAutoFit/>
          </a:bodyPr>
          <a:lstStyle/>
          <a:p>
            <a:pPr>
              <a:lnSpc>
                <a:spcPct val="115000"/>
              </a:lnSpc>
              <a:spcAft>
                <a:spcPts val="700"/>
              </a:spcAft>
              <a:defRPr sz="1900" b="0">
                <a:solidFill>
                  <a:srgbClr val="18343D"/>
                </a:solidFill>
                <a:latin typeface="Liberation Sans"/>
              </a:defRPr>
            </a:pPr>
            <a:r>
              <a:rPr>
                <a:ea typeface="Liberation Sans"/>
              </a:rPr>
              <a:t>Access gained or lost as toilets open or close</a:t>
            </a:r>
          </a:p>
        </p:txBody>
      </p:sp>
      <p:sp>
        <p:nvSpPr>
          <p:cNvPr id="28" name="TextBox 27"/>
          <p:cNvSpPr txBox="1"/>
          <p:nvPr/>
        </p:nvSpPr>
        <p:spPr>
          <a:xfrm>
            <a:off x="10972800" y="5742432"/>
            <a:ext cx="2697480" cy="338328"/>
          </a:xfrm>
          <a:prstGeom prst="rect">
            <a:avLst/>
          </a:prstGeom>
          <a:noFill/>
        </p:spPr>
        <p:txBody>
          <a:bodyPr wrap="square" lIns="9144" rIns="9144" tIns="9144" bIns="9144">
            <a:spAutoFit/>
          </a:bodyPr>
          <a:lstStyle/>
          <a:p>
            <a:pPr>
              <a:lnSpc>
                <a:spcPct val="115000"/>
              </a:lnSpc>
              <a:spcAft>
                <a:spcPts val="700"/>
              </a:spcAft>
              <a:defRPr sz="1800" b="0">
                <a:solidFill>
                  <a:srgbClr val="60747A"/>
                </a:solidFill>
                <a:latin typeface="Liberation Sans"/>
              </a:defRPr>
            </a:pPr>
            <a:r>
              <a:rPr>
                <a:ea typeface="Liberation Sans"/>
              </a:rPr>
              <a:t>Across day types</a:t>
            </a:r>
          </a:p>
        </p:txBody>
      </p:sp>
      <p:sp>
        <p:nvSpPr>
          <p:cNvPr id="29" name="TextBox 28"/>
          <p:cNvSpPr txBox="1"/>
          <p:nvPr/>
        </p:nvSpPr>
        <p:spPr>
          <a:xfrm>
            <a:off x="832104" y="6693408"/>
            <a:ext cx="12801600" cy="612648"/>
          </a:xfrm>
          <a:prstGeom prst="rect">
            <a:avLst/>
          </a:prstGeom>
          <a:noFill/>
        </p:spPr>
        <p:txBody>
          <a:bodyPr wrap="square" lIns="9144" rIns="9144" tIns="9144" bIns="9144">
            <a:spAutoFit/>
          </a:bodyPr>
          <a:lstStyle/>
          <a:p>
            <a:pPr>
              <a:lnSpc>
                <a:spcPct val="115000"/>
              </a:lnSpc>
              <a:spcAft>
                <a:spcPts val="700"/>
              </a:spcAft>
              <a:defRPr sz="2200" b="1">
                <a:solidFill>
                  <a:srgbClr val="137D76"/>
                </a:solidFill>
                <a:latin typeface="Liberation Sans"/>
              </a:defRPr>
            </a:pPr>
            <a:r>
              <a:rPr>
                <a:ea typeface="Liberation Sans"/>
              </a:rPr>
              <a:t>Counts express the scale of the access gap. Proportions express its prevalence among transfers.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502920" y="457200"/>
            <a:ext cx="91440" cy="274320"/>
          </a:xfrm>
          <a:prstGeom prst="rect">
            <a:avLst/>
          </a:prstGeom>
          <a:solidFill>
            <a:srgbClr val="137D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2801600" cy="365760"/>
          </a:xfrm>
          <a:prstGeom prst="rect">
            <a:avLst/>
          </a:prstGeom>
          <a:noFill/>
        </p:spPr>
        <p:txBody>
          <a:bodyPr wrap="square" lIns="9144" rIns="9144" tIns="9144" bIns="9144">
            <a:spAutoFit/>
          </a:bodyPr>
          <a:lstStyle/>
          <a:p>
            <a:pPr>
              <a:lnSpc>
                <a:spcPct val="115000"/>
              </a:lnSpc>
              <a:spcAft>
                <a:spcPts val="700"/>
              </a:spcAft>
              <a:defRPr sz="1300" b="1">
                <a:solidFill>
                  <a:srgbClr val="137D76"/>
                </a:solidFill>
                <a:latin typeface="Liberation Sans"/>
              </a:defRPr>
            </a:pPr>
            <a:r>
              <a:rPr>
                <a:ea typeface="Liberation Sans"/>
              </a:rPr>
              <a:t>ASSESSING IMPROVEMENTS</a:t>
            </a:r>
          </a:p>
        </p:txBody>
      </p:sp>
      <p:sp>
        <p:nvSpPr>
          <p:cNvPr id="4" name="TextBox 3"/>
          <p:cNvSpPr txBox="1"/>
          <p:nvPr/>
        </p:nvSpPr>
        <p:spPr>
          <a:xfrm>
            <a:off x="685800" y="914400"/>
            <a:ext cx="13350240" cy="603504"/>
          </a:xfrm>
          <a:prstGeom prst="rect">
            <a:avLst/>
          </a:prstGeom>
          <a:noFill/>
        </p:spPr>
        <p:txBody>
          <a:bodyPr wrap="square" lIns="9144" rIns="9144" tIns="9144" bIns="9144">
            <a:spAutoFit/>
          </a:bodyPr>
          <a:lstStyle/>
          <a:p>
            <a:pPr>
              <a:lnSpc>
                <a:spcPct val="115000"/>
              </a:lnSpc>
              <a:spcAft>
                <a:spcPts val="700"/>
              </a:spcAft>
              <a:defRPr sz="3000" b="1">
                <a:solidFill>
                  <a:srgbClr val="18343D"/>
                </a:solidFill>
                <a:latin typeface="Liberation Sans"/>
              </a:defRPr>
            </a:pPr>
            <a:r>
              <a:rPr>
                <a:ea typeface="Liberation Sans"/>
              </a:rPr>
              <a:t>Which changes serve the most transfers?</a:t>
            </a:r>
          </a:p>
        </p:txBody>
      </p:sp>
      <p:sp>
        <p:nvSpPr>
          <p:cNvPr id="5" name="TextBox 4"/>
          <p:cNvSpPr txBox="1"/>
          <p:nvPr/>
        </p:nvSpPr>
        <p:spPr>
          <a:xfrm>
            <a:off x="713232" y="1664208"/>
            <a:ext cx="13167360" cy="594360"/>
          </a:xfrm>
          <a:prstGeom prst="rect">
            <a:avLst/>
          </a:prstGeom>
          <a:noFill/>
        </p:spPr>
        <p:txBody>
          <a:bodyPr wrap="square" lIns="9144" rIns="9144" tIns="9144" bIns="9144">
            <a:spAutoFit/>
          </a:bodyPr>
          <a:lstStyle/>
          <a:p>
            <a:pPr>
              <a:lnSpc>
                <a:spcPct val="115000"/>
              </a:lnSpc>
              <a:spcAft>
                <a:spcPts val="700"/>
              </a:spcAft>
              <a:defRPr sz="1700" b="0">
                <a:solidFill>
                  <a:srgbClr val="60747A"/>
                </a:solidFill>
                <a:latin typeface="Liberation Sans"/>
              </a:defRPr>
            </a:pPr>
            <a:r>
              <a:rPr>
                <a:ea typeface="Liberation Sans"/>
              </a:rPr>
              <a:t>Alternative service arrangements are compared against the same observed transfer activity.</a:t>
            </a:r>
          </a:p>
        </p:txBody>
      </p:sp>
      <p:cxnSp>
        <p:nvCxnSpPr>
          <p:cNvPr id="6" name="Connector 5"/>
          <p:cNvCxnSpPr/>
          <p:nvPr/>
        </p:nvCxnSpPr>
        <p:spPr>
          <a:xfrm>
            <a:off x="685800" y="7754112"/>
            <a:ext cx="13258800" cy="0"/>
          </a:xfrm>
          <a:prstGeom prst="line">
            <a:avLst/>
          </a:prstGeom>
          <a:ln w="127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7872983"/>
            <a:ext cx="1005840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HK PUBLIC TOILET RESEARCH  /  MEASUREMENT STRATEGY</a:t>
            </a:r>
          </a:p>
        </p:txBody>
      </p:sp>
      <p:sp>
        <p:nvSpPr>
          <p:cNvPr id="8" name="TextBox 7"/>
          <p:cNvSpPr txBox="1"/>
          <p:nvPr/>
        </p:nvSpPr>
        <p:spPr>
          <a:xfrm>
            <a:off x="13121640" y="7836408"/>
            <a:ext cx="914400" cy="274320"/>
          </a:xfrm>
          <a:prstGeom prst="rect">
            <a:avLst/>
          </a:prstGeom>
          <a:noFill/>
        </p:spPr>
        <p:txBody>
          <a:bodyPr wrap="square" lIns="9144" rIns="9144" tIns="9144" bIns="9144">
            <a:spAutoFit/>
          </a:bodyPr>
          <a:lstStyle/>
          <a:p>
            <a:pPr>
              <a:lnSpc>
                <a:spcPct val="115000"/>
              </a:lnSpc>
              <a:spcAft>
                <a:spcPts val="700"/>
              </a:spcAft>
              <a:defRPr sz="1200" b="1">
                <a:solidFill>
                  <a:srgbClr val="60747A"/>
                </a:solidFill>
                <a:latin typeface="Liberation Sans"/>
              </a:defRPr>
            </a:pPr>
            <a:r>
              <a:rPr>
                <a:ea typeface="Liberation Sans"/>
              </a:rPr>
              <a:t>07 / 07</a:t>
            </a:r>
          </a:p>
        </p:txBody>
      </p:sp>
      <p:sp>
        <p:nvSpPr>
          <p:cNvPr id="9" name="Rounded Rectangle 8"/>
          <p:cNvSpPr/>
          <p:nvPr/>
        </p:nvSpPr>
        <p:spPr>
          <a:xfrm>
            <a:off x="731520" y="2560320"/>
            <a:ext cx="4169663" cy="17556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788920"/>
            <a:ext cx="3749039" cy="384048"/>
          </a:xfrm>
          <a:prstGeom prst="rect">
            <a:avLst/>
          </a:prstGeom>
          <a:noFill/>
        </p:spPr>
        <p:txBody>
          <a:bodyPr wrap="square" lIns="9144" rIns="9144" tIns="9144" bIns="9144">
            <a:spAutoFit/>
          </a:bodyPr>
          <a:lstStyle/>
          <a:p>
            <a:pPr>
              <a:lnSpc>
                <a:spcPct val="115000"/>
              </a:lnSpc>
              <a:spcAft>
                <a:spcPts val="700"/>
              </a:spcAft>
              <a:defRPr sz="2400" b="1">
                <a:solidFill>
                  <a:srgbClr val="137D76"/>
                </a:solidFill>
                <a:latin typeface="Liberation Sans"/>
              </a:defRPr>
            </a:pPr>
            <a:r>
              <a:rPr>
                <a:ea typeface="Liberation Sans"/>
              </a:rPr>
              <a:t>Location</a:t>
            </a:r>
          </a:p>
        </p:txBody>
      </p:sp>
      <p:sp>
        <p:nvSpPr>
          <p:cNvPr id="11" name="TextBox 10"/>
          <p:cNvSpPr txBox="1"/>
          <p:nvPr/>
        </p:nvSpPr>
        <p:spPr>
          <a:xfrm>
            <a:off x="941832" y="3383280"/>
            <a:ext cx="3749039" cy="704088"/>
          </a:xfrm>
          <a:prstGeom prst="rect">
            <a:avLst/>
          </a:prstGeom>
          <a:noFill/>
        </p:spPr>
        <p:txBody>
          <a:bodyPr wrap="square" lIns="9144" rIns="9144" tIns="9144" bIns="9144">
            <a:spAutoFit/>
          </a:bodyPr>
          <a:lstStyle/>
          <a:p>
            <a:pPr>
              <a:lnSpc>
                <a:spcPct val="115000"/>
              </a:lnSpc>
              <a:spcAft>
                <a:spcPts val="700"/>
              </a:spcAft>
              <a:defRPr sz="2000" b="0">
                <a:solidFill>
                  <a:srgbClr val="18343D"/>
                </a:solidFill>
                <a:latin typeface="Liberation Sans"/>
              </a:defRPr>
            </a:pPr>
            <a:r>
              <a:rPr>
                <a:ea typeface="Liberation Sans"/>
              </a:rPr>
              <a:t>Additional toilets near</a:t>
            </a:r>
          </a:p>
          <a:p>
            <a:pPr>
              <a:lnSpc>
                <a:spcPct val="115000"/>
              </a:lnSpc>
              <a:spcAft>
                <a:spcPts val="700"/>
              </a:spcAft>
              <a:defRPr sz="2000" b="0">
                <a:solidFill>
                  <a:srgbClr val="18343D"/>
                </a:solidFill>
                <a:latin typeface="Liberation Sans"/>
              </a:defRPr>
            </a:pPr>
            <a:r>
              <a:rPr>
                <a:ea typeface="Liberation Sans"/>
              </a:rPr>
              <a:t>frequent transfer locations</a:t>
            </a:r>
          </a:p>
        </p:txBody>
      </p:sp>
      <p:sp>
        <p:nvSpPr>
          <p:cNvPr id="12" name="Rounded Rectangle 11"/>
          <p:cNvSpPr/>
          <p:nvPr/>
        </p:nvSpPr>
        <p:spPr>
          <a:xfrm>
            <a:off x="5184648" y="2560320"/>
            <a:ext cx="4169663" cy="17556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788920"/>
            <a:ext cx="3749039" cy="384048"/>
          </a:xfrm>
          <a:prstGeom prst="rect">
            <a:avLst/>
          </a:prstGeom>
          <a:noFill/>
        </p:spPr>
        <p:txBody>
          <a:bodyPr wrap="square" lIns="9144" rIns="9144" tIns="9144" bIns="9144">
            <a:spAutoFit/>
          </a:bodyPr>
          <a:lstStyle/>
          <a:p>
            <a:pPr>
              <a:lnSpc>
                <a:spcPct val="115000"/>
              </a:lnSpc>
              <a:spcAft>
                <a:spcPts val="700"/>
              </a:spcAft>
              <a:defRPr sz="2400" b="1">
                <a:solidFill>
                  <a:srgbClr val="137D76"/>
                </a:solidFill>
                <a:latin typeface="Liberation Sans"/>
              </a:defRPr>
            </a:pPr>
            <a:r>
              <a:rPr>
                <a:ea typeface="Liberation Sans"/>
              </a:rPr>
              <a:t>Opening hours</a:t>
            </a:r>
          </a:p>
        </p:txBody>
      </p:sp>
      <p:sp>
        <p:nvSpPr>
          <p:cNvPr id="14" name="TextBox 13"/>
          <p:cNvSpPr txBox="1"/>
          <p:nvPr/>
        </p:nvSpPr>
        <p:spPr>
          <a:xfrm>
            <a:off x="5394960" y="3383280"/>
            <a:ext cx="3749039" cy="704088"/>
          </a:xfrm>
          <a:prstGeom prst="rect">
            <a:avLst/>
          </a:prstGeom>
          <a:noFill/>
        </p:spPr>
        <p:txBody>
          <a:bodyPr wrap="square" lIns="9144" rIns="9144" tIns="9144" bIns="9144">
            <a:spAutoFit/>
          </a:bodyPr>
          <a:lstStyle/>
          <a:p>
            <a:pPr>
              <a:lnSpc>
                <a:spcPct val="115000"/>
              </a:lnSpc>
              <a:spcAft>
                <a:spcPts val="700"/>
              </a:spcAft>
              <a:defRPr sz="2000" b="0">
                <a:solidFill>
                  <a:srgbClr val="18343D"/>
                </a:solidFill>
                <a:latin typeface="Liberation Sans"/>
              </a:defRPr>
            </a:pPr>
            <a:r>
              <a:rPr>
                <a:ea typeface="Liberation Sans"/>
              </a:rPr>
              <a:t>Extended availability during</a:t>
            </a:r>
          </a:p>
          <a:p>
            <a:pPr>
              <a:lnSpc>
                <a:spcPct val="115000"/>
              </a:lnSpc>
              <a:spcAft>
                <a:spcPts val="700"/>
              </a:spcAft>
              <a:defRPr sz="2000" b="0">
                <a:solidFill>
                  <a:srgbClr val="18343D"/>
                </a:solidFill>
                <a:latin typeface="Liberation Sans"/>
              </a:defRPr>
            </a:pPr>
            <a:r>
              <a:rPr>
                <a:ea typeface="Liberation Sans"/>
              </a:rPr>
              <a:t>periods of concentrated activity</a:t>
            </a:r>
          </a:p>
        </p:txBody>
      </p:sp>
      <p:sp>
        <p:nvSpPr>
          <p:cNvPr id="15" name="Rounded Rectangle 14"/>
          <p:cNvSpPr/>
          <p:nvPr/>
        </p:nvSpPr>
        <p:spPr>
          <a:xfrm>
            <a:off x="9637776" y="2560320"/>
            <a:ext cx="4169663" cy="17556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48088" y="2788920"/>
            <a:ext cx="3749039" cy="384048"/>
          </a:xfrm>
          <a:prstGeom prst="rect">
            <a:avLst/>
          </a:prstGeom>
          <a:noFill/>
        </p:spPr>
        <p:txBody>
          <a:bodyPr wrap="square" lIns="9144" rIns="9144" tIns="9144" bIns="9144">
            <a:spAutoFit/>
          </a:bodyPr>
          <a:lstStyle/>
          <a:p>
            <a:pPr>
              <a:lnSpc>
                <a:spcPct val="115000"/>
              </a:lnSpc>
              <a:spcAft>
                <a:spcPts val="700"/>
              </a:spcAft>
              <a:defRPr sz="2400" b="1">
                <a:solidFill>
                  <a:srgbClr val="137D76"/>
                </a:solidFill>
                <a:latin typeface="Liberation Sans"/>
              </a:defRPr>
            </a:pPr>
            <a:r>
              <a:rPr>
                <a:ea typeface="Liberation Sans"/>
              </a:rPr>
              <a:t>Pedestrian access</a:t>
            </a:r>
          </a:p>
        </p:txBody>
      </p:sp>
      <p:sp>
        <p:nvSpPr>
          <p:cNvPr id="17" name="TextBox 16"/>
          <p:cNvSpPr txBox="1"/>
          <p:nvPr/>
        </p:nvSpPr>
        <p:spPr>
          <a:xfrm>
            <a:off x="9848088" y="3383280"/>
            <a:ext cx="3749039" cy="704088"/>
          </a:xfrm>
          <a:prstGeom prst="rect">
            <a:avLst/>
          </a:prstGeom>
          <a:noFill/>
        </p:spPr>
        <p:txBody>
          <a:bodyPr wrap="square" lIns="9144" rIns="9144" tIns="9144" bIns="9144">
            <a:spAutoFit/>
          </a:bodyPr>
          <a:lstStyle/>
          <a:p>
            <a:pPr>
              <a:lnSpc>
                <a:spcPct val="115000"/>
              </a:lnSpc>
              <a:spcAft>
                <a:spcPts val="700"/>
              </a:spcAft>
              <a:defRPr sz="2000" b="0">
                <a:solidFill>
                  <a:srgbClr val="18343D"/>
                </a:solidFill>
                <a:latin typeface="Liberation Sans"/>
              </a:defRPr>
            </a:pPr>
            <a:r>
              <a:rPr>
                <a:ea typeface="Liberation Sans"/>
              </a:rPr>
              <a:t>Improved entrances or links</a:t>
            </a:r>
          </a:p>
          <a:p>
            <a:pPr>
              <a:lnSpc>
                <a:spcPct val="115000"/>
              </a:lnSpc>
              <a:spcAft>
                <a:spcPts val="700"/>
              </a:spcAft>
              <a:defRPr sz="2000" b="0">
                <a:solidFill>
                  <a:srgbClr val="18343D"/>
                </a:solidFill>
                <a:latin typeface="Liberation Sans"/>
              </a:defRPr>
            </a:pPr>
            <a:r>
              <a:rPr>
                <a:ea typeface="Liberation Sans"/>
              </a:rPr>
              <a:t>between stops and toilets</a:t>
            </a:r>
          </a:p>
        </p:txBody>
      </p:sp>
      <p:sp>
        <p:nvSpPr>
          <p:cNvPr id="18" name="TextBox 17"/>
          <p:cNvSpPr txBox="1"/>
          <p:nvPr/>
        </p:nvSpPr>
        <p:spPr>
          <a:xfrm>
            <a:off x="795528" y="4791456"/>
            <a:ext cx="3163824" cy="402336"/>
          </a:xfrm>
          <a:prstGeom prst="rect">
            <a:avLst/>
          </a:prstGeom>
          <a:noFill/>
        </p:spPr>
        <p:txBody>
          <a:bodyPr wrap="square" lIns="9144" rIns="9144" tIns="9144" bIns="9144">
            <a:spAutoFit/>
          </a:bodyPr>
          <a:lstStyle/>
          <a:p>
            <a:pPr>
              <a:lnSpc>
                <a:spcPct val="115000"/>
              </a:lnSpc>
              <a:spcAft>
                <a:spcPts val="700"/>
              </a:spcAft>
              <a:defRPr sz="2300" b="1">
                <a:solidFill>
                  <a:srgbClr val="137D76"/>
                </a:solidFill>
                <a:latin typeface="Liberation Sans"/>
              </a:defRPr>
            </a:pPr>
            <a:r>
              <a:rPr>
                <a:ea typeface="Liberation Sans"/>
              </a:rPr>
              <a:t>Measures</a:t>
            </a:r>
          </a:p>
        </p:txBody>
      </p:sp>
      <p:sp>
        <p:nvSpPr>
          <p:cNvPr id="19" name="TextBox 18"/>
          <p:cNvSpPr txBox="1"/>
          <p:nvPr/>
        </p:nvSpPr>
        <p:spPr>
          <a:xfrm>
            <a:off x="4041648" y="4745736"/>
            <a:ext cx="9582912" cy="1380744"/>
          </a:xfrm>
          <a:prstGeom prst="rect">
            <a:avLst/>
          </a:prstGeom>
          <a:noFill/>
        </p:spPr>
        <p:txBody>
          <a:bodyPr wrap="square" lIns="9144" rIns="9144" tIns="9144" bIns="9144">
            <a:spAutoFit/>
          </a:bodyPr>
          <a:lstStyle/>
          <a:p>
            <a:pPr>
              <a:lnSpc>
                <a:spcPct val="115000"/>
              </a:lnSpc>
              <a:spcAft>
                <a:spcPts val="700"/>
              </a:spcAft>
              <a:defRPr sz="2300" b="0">
                <a:solidFill>
                  <a:srgbClr val="18343D"/>
                </a:solidFill>
                <a:latin typeface="Liberation Sans"/>
              </a:defRPr>
            </a:pPr>
            <a:r>
              <a:rPr>
                <a:ea typeface="Liberation Sans"/>
              </a:rPr>
              <a:t>Additional transfer events within the access threshold</a:t>
            </a:r>
          </a:p>
          <a:p>
            <a:pPr>
              <a:lnSpc>
                <a:spcPct val="115000"/>
              </a:lnSpc>
              <a:spcAft>
                <a:spcPts val="700"/>
              </a:spcAft>
              <a:defRPr sz="2300" b="0">
                <a:solidFill>
                  <a:srgbClr val="18343D"/>
                </a:solidFill>
                <a:latin typeface="Liberation Sans"/>
              </a:defRPr>
            </a:pPr>
            <a:r>
              <a:rPr>
                <a:ea typeface="Liberation Sans"/>
              </a:rPr>
              <a:t>Reduction in walking cost at frequent transfer locations</a:t>
            </a:r>
          </a:p>
          <a:p>
            <a:pPr>
              <a:lnSpc>
                <a:spcPct val="115000"/>
              </a:lnSpc>
              <a:spcAft>
                <a:spcPts val="700"/>
              </a:spcAft>
              <a:defRPr sz="2300" b="0">
                <a:solidFill>
                  <a:srgbClr val="18343D"/>
                </a:solidFill>
                <a:latin typeface="Liberation Sans"/>
              </a:defRPr>
            </a:pPr>
            <a:r>
              <a:rPr>
                <a:ea typeface="Liberation Sans"/>
              </a:rPr>
              <a:t>Distribution of gains across locations and time periods</a:t>
            </a:r>
          </a:p>
        </p:txBody>
      </p:sp>
      <p:cxnSp>
        <p:nvCxnSpPr>
          <p:cNvPr id="20" name="Connector 19"/>
          <p:cNvCxnSpPr/>
          <p:nvPr/>
        </p:nvCxnSpPr>
        <p:spPr>
          <a:xfrm>
            <a:off x="795528" y="6519672"/>
            <a:ext cx="13011912" cy="0"/>
          </a:xfrm>
          <a:prstGeom prst="line">
            <a:avLst/>
          </a:prstGeom>
          <a:ln w="25400">
            <a:solidFill>
              <a:srgbClr val="D4DED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6839712"/>
            <a:ext cx="12801600" cy="484632"/>
          </a:xfrm>
          <a:prstGeom prst="rect">
            <a:avLst/>
          </a:prstGeom>
          <a:noFill/>
        </p:spPr>
        <p:txBody>
          <a:bodyPr wrap="square" lIns="9144" rIns="9144" tIns="9144" bIns="9144">
            <a:spAutoFit/>
          </a:bodyPr>
          <a:lstStyle/>
          <a:p>
            <a:pPr>
              <a:lnSpc>
                <a:spcPct val="115000"/>
              </a:lnSpc>
              <a:spcAft>
                <a:spcPts val="700"/>
              </a:spcAft>
              <a:defRPr sz="2200" b="0">
                <a:solidFill>
                  <a:srgbClr val="18343D"/>
                </a:solidFill>
                <a:latin typeface="Liberation Sans"/>
              </a:defRPr>
            </a:pPr>
            <a:r>
              <a:rPr>
                <a:ea typeface="Liberation Sans"/>
              </a:rPr>
              <a:t>The assessment prioritizes service gaps using both transfer volume and accessibility.</a:t>
            </a:r>
          </a:p>
        </p:txBody>
      </p:sp>
      <p:sp>
        <p:nvSpPr>
          <p:cNvPr id="22" name="TextBox 21"/>
          <p:cNvSpPr txBox="1"/>
          <p:nvPr/>
        </p:nvSpPr>
        <p:spPr>
          <a:xfrm>
            <a:off x="768096" y="7488936"/>
            <a:ext cx="12710160" cy="182880"/>
          </a:xfrm>
          <a:prstGeom prst="rect">
            <a:avLst/>
          </a:prstGeom>
          <a:noFill/>
        </p:spPr>
        <p:txBody>
          <a:bodyPr wrap="square" lIns="9144" rIns="9144" tIns="9144" bIns="9144">
            <a:spAutoFit/>
          </a:bodyPr>
          <a:lstStyle/>
          <a:p>
            <a:pPr>
              <a:lnSpc>
                <a:spcPct val="115000"/>
              </a:lnSpc>
              <a:spcAft>
                <a:spcPts val="700"/>
              </a:spcAft>
              <a:defRPr sz="900" b="0">
                <a:solidFill>
                  <a:srgbClr val="60747A"/>
                </a:solidFill>
                <a:latin typeface="Liberation Sans"/>
              </a:defRPr>
            </a:pPr>
            <a:r>
              <a:rPr>
                <a:ea typeface="Liberation Sans"/>
              </a:rPr>
              <a:t>Bruno et al.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Between Buses | Measurement Strategy</dc:title>
  <dc:subject>Public toilet accessibility at frequent bus transfer locations in Hong Kong</dc:subject>
  <dc:creator>Research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